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Sāc ar atzinību — tā ir tava spēcīgākā pozīcija. Platforma eksistē, pateicoties viņu atvērtajiem datiem.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Viens skaidrs lūgums. Nekas jauns netiek atklāts — tikai formāts. To birokrātiski ir grūti atteikt pēc būtības.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Cenas IR publiskas atvēršanas protokolos — bet nav strukturētas. Neteikt "nav pieejamas", teikt "nav atkalizmantojamas".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Šis slaids aizver slazdu: ja teiktu "bez cenām neko nevar", Lapiņš jautātu — ko tad dara jūsu vietne?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Šī ir tava vērtības demonstrācija. Sāc ar kalibrāciju (24,6 % sakrīt ar viņu skaitli), tad 397. Permutāciju tests ir atbilde uz "vai tā nav nejaušība?".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Pasaki pretargumentu PATS. Tas parāda, ka esi nopietns, ne naivs.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EIS nav IUB sistēma — lūdz atbalstu, ne izpildi.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Šis ir spēcīgākais PEP arguments: lielākais risks ir radinieku firmās, un tieši tās neviens neredz, jo PNP reģistrs un deklarācijas nav atvērtajos datos. To atvēršana ir vērtīgākais solis.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B31"/>
        </a:solidFill>
      </p:bgPr>
    </p:bg>
    <p:spTree>
      <p:nvGrpSpPr>
        <p:cNvPr id="1" name=""/>
        <p:cNvGrpSpPr/>
        <p:nvPr/>
      </p:nvGrpSpPr>
      <p:grpSpPr>
        <a:xfrm>
          <a:off x="0" y="0"/>
          <a:ext cx="0" cy="0"/>
          <a:chOff x="0" y="0"/>
          <a:chExt cx="0" cy="0"/>
        </a:xfrm>
      </p:grpSpPr>
      <p:sp>
        <p:nvSpPr>
          <p:cNvPr id="2" name="Text 0"/>
          <p:cNvSpPr/>
          <p:nvPr/>
        </p:nvSpPr>
        <p:spPr>
          <a:xfrm>
            <a:off x="731520" y="1371600"/>
            <a:ext cx="7680960" cy="2651760"/>
          </a:xfrm>
          <a:prstGeom prst="rect">
            <a:avLst/>
          </a:prstGeom>
          <a:noFill/>
          <a:ln/>
        </p:spPr>
        <p:txBody>
          <a:bodyPr wrap="square"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Priekšlikumi publisko</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iepirkumu datu</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pieejamības uzlabošanai</a:t>
            </a:r>
            <a:endParaRPr lang="en-US" sz="4000" dirty="0"/>
          </a:p>
        </p:txBody>
      </p:sp>
      <p:sp>
        <p:nvSpPr>
          <p:cNvPr id="3" name="Text 1"/>
          <p:cNvSpPr/>
          <p:nvPr/>
        </p:nvSpPr>
        <p:spPr>
          <a:xfrm>
            <a:off x="731520" y="4297680"/>
            <a:ext cx="7315200" cy="365760"/>
          </a:xfrm>
          <a:prstGeom prst="rect">
            <a:avLst/>
          </a:prstGeom>
          <a:noFill/>
          <a:ln/>
        </p:spPr>
        <p:txBody>
          <a:bodyPr wrap="square" rtlCol="0" anchor="ctr"/>
          <a:lstStyle/>
          <a:p>
            <a:pPr indent="0" marL="0">
              <a:buNone/>
            </a:pPr>
            <a:r>
              <a:rPr lang="en-US" sz="1700" dirty="0">
                <a:solidFill>
                  <a:srgbClr val="8FBFA6"/>
                </a:solidFill>
                <a:latin typeface="Calibri" pitchFamily="34" charset="0"/>
                <a:ea typeface="Calibri" pitchFamily="34" charset="-122"/>
                <a:cs typeface="Calibri" pitchFamily="34" charset="-120"/>
              </a:rPr>
              <a:t>Jānis Rupeiks · iepirkumurisks.lv</a:t>
            </a:r>
            <a:endParaRPr lang="en-US" sz="1700" dirty="0"/>
          </a:p>
        </p:txBody>
      </p:sp>
      <p:sp>
        <p:nvSpPr>
          <p:cNvPr id="4" name="Text 2"/>
          <p:cNvSpPr/>
          <p:nvPr/>
        </p:nvSpPr>
        <p:spPr>
          <a:xfrm>
            <a:off x="731520" y="4709160"/>
            <a:ext cx="8229600" cy="365760"/>
          </a:xfrm>
          <a:prstGeom prst="rect">
            <a:avLst/>
          </a:prstGeom>
          <a:noFill/>
          <a:ln/>
        </p:spPr>
        <p:txBody>
          <a:bodyPr wrap="square" rtlCol="0" anchor="ctr"/>
          <a:lstStyle/>
          <a:p>
            <a:pPr indent="0" marL="0">
              <a:buNone/>
            </a:pPr>
            <a:r>
              <a:rPr lang="en-US" sz="1300" dirty="0">
                <a:solidFill>
                  <a:srgbClr val="9FB8AC"/>
                </a:solidFill>
                <a:latin typeface="Calibri" pitchFamily="34" charset="0"/>
                <a:ea typeface="Calibri" pitchFamily="34" charset="-122"/>
                <a:cs typeface="Calibri" pitchFamily="34" charset="-120"/>
              </a:rPr>
              <a:t>Iepirkumu uzraudzības birojam un Finanšu ministrijai · 2026. gada jūlijs</a:t>
            </a:r>
            <a:endParaRPr lang="en-US" sz="1300" dirty="0"/>
          </a:p>
        </p:txBody>
      </p:sp>
      <p:sp>
        <p:nvSpPr>
          <p:cNvPr id="5" name="Shape 3"/>
          <p:cNvSpPr/>
          <p:nvPr/>
        </p:nvSpPr>
        <p:spPr>
          <a:xfrm>
            <a:off x="9921240" y="1965960"/>
            <a:ext cx="1051560" cy="603504"/>
          </a:xfrm>
          <a:prstGeom prst="line">
            <a:avLst/>
          </a:prstGeom>
          <a:noFill/>
          <a:ln w="30480">
            <a:solidFill>
              <a:srgbClr val="D6402F"/>
            </a:solidFill>
            <a:prstDash val="solid"/>
          </a:ln>
        </p:spPr>
      </p:sp>
      <p:sp>
        <p:nvSpPr>
          <p:cNvPr id="6" name="Shape 4"/>
          <p:cNvSpPr/>
          <p:nvPr/>
        </p:nvSpPr>
        <p:spPr>
          <a:xfrm>
            <a:off x="9464040" y="2103120"/>
            <a:ext cx="457200" cy="1097280"/>
          </a:xfrm>
          <a:prstGeom prst="line">
            <a:avLst/>
          </a:prstGeom>
          <a:noFill/>
          <a:ln w="15240">
            <a:solidFill>
              <a:srgbClr val="3D6B5C"/>
            </a:solidFill>
            <a:prstDash val="solid"/>
          </a:ln>
        </p:spPr>
      </p:sp>
      <p:sp>
        <p:nvSpPr>
          <p:cNvPr id="7" name="Shape 5"/>
          <p:cNvSpPr/>
          <p:nvPr/>
        </p:nvSpPr>
        <p:spPr>
          <a:xfrm>
            <a:off x="9464040" y="3246120"/>
            <a:ext cx="1188720" cy="594360"/>
          </a:xfrm>
          <a:prstGeom prst="line">
            <a:avLst/>
          </a:prstGeom>
          <a:noFill/>
          <a:ln w="15240">
            <a:solidFill>
              <a:srgbClr val="3D6B5C"/>
            </a:solidFill>
            <a:prstDash val="solid"/>
          </a:ln>
        </p:spPr>
      </p:sp>
      <p:sp>
        <p:nvSpPr>
          <p:cNvPr id="8" name="Shape 6"/>
          <p:cNvSpPr/>
          <p:nvPr/>
        </p:nvSpPr>
        <p:spPr>
          <a:xfrm>
            <a:off x="10104120" y="3977640"/>
            <a:ext cx="548640" cy="548640"/>
          </a:xfrm>
          <a:prstGeom prst="line">
            <a:avLst/>
          </a:prstGeom>
          <a:noFill/>
          <a:ln w="15240">
            <a:solidFill>
              <a:srgbClr val="3D6B5C"/>
            </a:solidFill>
            <a:prstDash val="solid"/>
          </a:ln>
        </p:spPr>
      </p:sp>
      <p:sp>
        <p:nvSpPr>
          <p:cNvPr id="9" name="Shape 7"/>
          <p:cNvSpPr/>
          <p:nvPr/>
        </p:nvSpPr>
        <p:spPr>
          <a:xfrm>
            <a:off x="9784080" y="1828800"/>
            <a:ext cx="274320" cy="274320"/>
          </a:xfrm>
          <a:prstGeom prst="ellipse">
            <a:avLst/>
          </a:prstGeom>
          <a:solidFill>
            <a:srgbClr val="D6402F"/>
          </a:solidFill>
          <a:ln w="12700">
            <a:solidFill>
              <a:srgbClr val="D6402F"/>
            </a:solidFill>
            <a:prstDash val="solid"/>
          </a:ln>
        </p:spPr>
      </p:sp>
      <p:sp>
        <p:nvSpPr>
          <p:cNvPr id="10" name="Shape 8"/>
          <p:cNvSpPr/>
          <p:nvPr/>
        </p:nvSpPr>
        <p:spPr>
          <a:xfrm>
            <a:off x="10881360" y="2468880"/>
            <a:ext cx="201168" cy="201168"/>
          </a:xfrm>
          <a:prstGeom prst="ellipse">
            <a:avLst/>
          </a:prstGeom>
          <a:solidFill>
            <a:srgbClr val="2E5F51"/>
          </a:solidFill>
          <a:ln w="12700">
            <a:solidFill>
              <a:srgbClr val="4A7A69"/>
            </a:solidFill>
            <a:prstDash val="solid"/>
          </a:ln>
        </p:spPr>
      </p:sp>
      <p:sp>
        <p:nvSpPr>
          <p:cNvPr id="11" name="Shape 9"/>
          <p:cNvSpPr/>
          <p:nvPr/>
        </p:nvSpPr>
        <p:spPr>
          <a:xfrm>
            <a:off x="9326880" y="3108960"/>
            <a:ext cx="201168" cy="201168"/>
          </a:xfrm>
          <a:prstGeom prst="ellipse">
            <a:avLst/>
          </a:prstGeom>
          <a:solidFill>
            <a:srgbClr val="2E5F51"/>
          </a:solidFill>
          <a:ln w="12700">
            <a:solidFill>
              <a:srgbClr val="4A7A69"/>
            </a:solidFill>
            <a:prstDash val="solid"/>
          </a:ln>
        </p:spPr>
      </p:sp>
      <p:sp>
        <p:nvSpPr>
          <p:cNvPr id="12" name="Shape 10"/>
          <p:cNvSpPr/>
          <p:nvPr/>
        </p:nvSpPr>
        <p:spPr>
          <a:xfrm>
            <a:off x="10515600" y="3749040"/>
            <a:ext cx="274320" cy="274320"/>
          </a:xfrm>
          <a:prstGeom prst="ellipse">
            <a:avLst/>
          </a:prstGeom>
          <a:solidFill>
            <a:srgbClr val="D6402F"/>
          </a:solidFill>
          <a:ln w="12700">
            <a:solidFill>
              <a:srgbClr val="D6402F"/>
            </a:solidFill>
            <a:prstDash val="solid"/>
          </a:ln>
        </p:spPr>
      </p:sp>
      <p:sp>
        <p:nvSpPr>
          <p:cNvPr id="13" name="Shape 11"/>
          <p:cNvSpPr/>
          <p:nvPr/>
        </p:nvSpPr>
        <p:spPr>
          <a:xfrm>
            <a:off x="9966960" y="4480560"/>
            <a:ext cx="182880" cy="182880"/>
          </a:xfrm>
          <a:prstGeom prst="ellipse">
            <a:avLst/>
          </a:prstGeom>
          <a:solidFill>
            <a:srgbClr val="2E5F51"/>
          </a:solidFill>
          <a:ln w="12700">
            <a:solidFill>
              <a:srgbClr val="4A7A6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EFE6"/>
        </a:solidFill>
      </p:bgPr>
    </p:bg>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000" b="1" dirty="0">
                <a:solidFill>
                  <a:srgbClr val="1B2A24"/>
                </a:solidFill>
                <a:latin typeface="Cambria" pitchFamily="34" charset="0"/>
                <a:ea typeface="Cambria" pitchFamily="34" charset="-122"/>
                <a:cs typeface="Cambria" pitchFamily="34" charset="-120"/>
              </a:rPr>
              <a:t>Neatkarīga vietne, kas balstās uz jūsu atvērtajiem datiem</a:t>
            </a:r>
            <a:endParaRPr lang="en-US" sz="3000" dirty="0"/>
          </a:p>
        </p:txBody>
      </p:sp>
      <p:sp>
        <p:nvSpPr>
          <p:cNvPr id="3" name="Text 1"/>
          <p:cNvSpPr/>
          <p:nvPr/>
        </p:nvSpPr>
        <p:spPr>
          <a:xfrm>
            <a:off x="548640" y="1371600"/>
            <a:ext cx="6583680" cy="1188720"/>
          </a:xfrm>
          <a:prstGeom prst="rect">
            <a:avLst/>
          </a:prstGeom>
          <a:noFill/>
          <a:ln/>
        </p:spPr>
        <p:txBody>
          <a:bodyPr wrap="square" rtlCol="0" anchor="ctr"/>
          <a:lstStyle/>
          <a:p>
            <a:pPr indent="0" marL="0">
              <a:lnSpc>
                <a:spcPts val="2200"/>
              </a:lnSpc>
              <a:buNone/>
            </a:pPr>
            <a:r>
              <a:rPr lang="en-US" sz="1500" dirty="0">
                <a:solidFill>
                  <a:srgbClr val="1B2A24"/>
                </a:solidFill>
                <a:latin typeface="Calibri" pitchFamily="34" charset="0"/>
                <a:ea typeface="Calibri" pitchFamily="34" charset="-122"/>
                <a:cs typeface="Calibri" pitchFamily="34" charset="-120"/>
              </a:rPr>
              <a:t>iepirkumurisks.lv analizē Latvijas publisko iepirkumu datus un norāda uz gadījumiem, kuros būtu vērts ieskatīties padziļināti. Vietne izveidota un tiek uzturēta par privātiem līdzekļiem, tā ir bez maksas, un tās metodika ir atklāta.</a:t>
            </a:r>
            <a:endParaRPr lang="en-US" sz="1500" dirty="0"/>
          </a:p>
        </p:txBody>
      </p:sp>
      <p:sp>
        <p:nvSpPr>
          <p:cNvPr id="4" name="Shape 2"/>
          <p:cNvSpPr/>
          <p:nvPr/>
        </p:nvSpPr>
        <p:spPr>
          <a:xfrm>
            <a:off x="548640" y="2697480"/>
            <a:ext cx="6583680" cy="1143000"/>
          </a:xfrm>
          <a:prstGeom prst="roundRect">
            <a:avLst>
              <a:gd name="adj" fmla="val 8000"/>
            </a:avLst>
          </a:prstGeom>
          <a:solidFill>
            <a:srgbClr val="E3EFE9"/>
          </a:solidFill>
          <a:ln w="12700">
            <a:solidFill>
              <a:srgbClr val="E7DED0"/>
            </a:solidFill>
            <a:prstDash val="solid"/>
          </a:ln>
        </p:spPr>
      </p:sp>
      <p:sp>
        <p:nvSpPr>
          <p:cNvPr id="5" name="Text 3"/>
          <p:cNvSpPr/>
          <p:nvPr/>
        </p:nvSpPr>
        <p:spPr>
          <a:xfrm>
            <a:off x="822960" y="2834640"/>
            <a:ext cx="6035040" cy="868680"/>
          </a:xfrm>
          <a:prstGeom prst="rect">
            <a:avLst/>
          </a:prstGeom>
          <a:noFill/>
          <a:ln/>
        </p:spPr>
        <p:txBody>
          <a:bodyPr wrap="square" rtlCol="0" anchor="ctr"/>
          <a:lstStyle/>
          <a:p>
            <a:pPr indent="0" marL="0">
              <a:lnSpc>
                <a:spcPts val="2100"/>
              </a:lnSpc>
              <a:buNone/>
            </a:pPr>
            <a:r>
              <a:rPr lang="en-US" sz="1500" dirty="0">
                <a:solidFill>
                  <a:srgbClr val="0E3B31"/>
                </a:solidFill>
                <a:latin typeface="Calibri" pitchFamily="34" charset="0"/>
                <a:ea typeface="Calibri" pitchFamily="34" charset="-122"/>
                <a:cs typeface="Calibri" pitchFamily="34" charset="-120"/>
              </a:rPr>
              <a:t>Šis darbs bija iespējams vienīgi tāpēc, </a:t>
            </a:r>
            <a:pPr indent="0" marL="0">
              <a:lnSpc>
                <a:spcPts val="2100"/>
              </a:lnSpc>
              <a:buNone/>
            </a:pPr>
            <a:r>
              <a:rPr lang="en-US" sz="1500" b="1" dirty="0">
                <a:solidFill>
                  <a:srgbClr val="0E3B31"/>
                </a:solidFill>
                <a:latin typeface="Calibri" pitchFamily="34" charset="0"/>
                <a:ea typeface="Calibri" pitchFamily="34" charset="-122"/>
                <a:cs typeface="Calibri" pitchFamily="34" charset="-120"/>
              </a:rPr>
              <a:t>ka IUB kopš 2024. gada publicē iepirkumu paziņojumu datus mašīnlasāmā formātā.</a:t>
            </a:r>
            <a:pPr indent="0" marL="0">
              <a:lnSpc>
                <a:spcPts val="2100"/>
              </a:lnSpc>
              <a:buNone/>
            </a:pPr>
            <a:r>
              <a:rPr lang="en-US" sz="1500" dirty="0">
                <a:solidFill>
                  <a:srgbClr val="0E3B31"/>
                </a:solidFill>
                <a:latin typeface="Calibri" pitchFamily="34" charset="0"/>
                <a:ea typeface="Calibri" pitchFamily="34" charset="-122"/>
                <a:cs typeface="Calibri" pitchFamily="34" charset="-120"/>
              </a:rPr>
              <a:t> Šī nav sūdzība — tas ir priekšlikums turpināt jau iesākto virzienu.</a:t>
            </a:r>
            <a:endParaRPr lang="en-US" sz="1500" dirty="0"/>
          </a:p>
        </p:txBody>
      </p:sp>
      <p:sp>
        <p:nvSpPr>
          <p:cNvPr id="6" name="Shape 4"/>
          <p:cNvSpPr/>
          <p:nvPr/>
        </p:nvSpPr>
        <p:spPr>
          <a:xfrm>
            <a:off x="7680960" y="1417320"/>
            <a:ext cx="3931920" cy="1005840"/>
          </a:xfrm>
          <a:prstGeom prst="roundRect">
            <a:avLst>
              <a:gd name="adj" fmla="val 9091"/>
            </a:avLst>
          </a:prstGeom>
          <a:solidFill>
            <a:srgbClr val="FFFFFF"/>
          </a:solidFill>
          <a:ln w="12700">
            <a:solidFill>
              <a:srgbClr val="E7DED0"/>
            </a:solidFill>
            <a:prstDash val="solid"/>
          </a:ln>
        </p:spPr>
      </p:sp>
      <p:sp>
        <p:nvSpPr>
          <p:cNvPr id="7" name="Text 5"/>
          <p:cNvSpPr/>
          <p:nvPr/>
        </p:nvSpPr>
        <p:spPr>
          <a:xfrm>
            <a:off x="7955280" y="1490472"/>
            <a:ext cx="3383280" cy="502920"/>
          </a:xfrm>
          <a:prstGeom prst="rect">
            <a:avLst/>
          </a:prstGeom>
          <a:noFill/>
          <a:ln/>
        </p:spPr>
        <p:txBody>
          <a:bodyPr wrap="square" lIns="0" tIns="0" rIns="0" bIns="0" rtlCol="0" anchor="ctr"/>
          <a:lstStyle/>
          <a:p>
            <a:pPr indent="0" marL="0">
              <a:buNone/>
            </a:pPr>
            <a:r>
              <a:rPr lang="en-US" sz="2700" b="1" dirty="0">
                <a:solidFill>
                  <a:srgbClr val="1F7A5F"/>
                </a:solidFill>
                <a:latin typeface="Cambria" pitchFamily="34" charset="0"/>
                <a:ea typeface="Cambria" pitchFamily="34" charset="-122"/>
                <a:cs typeface="Cambria" pitchFamily="34" charset="-120"/>
              </a:rPr>
              <a:t>28 331</a:t>
            </a:r>
            <a:endParaRPr lang="en-US" sz="2700" dirty="0"/>
          </a:p>
        </p:txBody>
      </p:sp>
      <p:sp>
        <p:nvSpPr>
          <p:cNvPr id="8" name="Text 6"/>
          <p:cNvSpPr/>
          <p:nvPr/>
        </p:nvSpPr>
        <p:spPr>
          <a:xfrm>
            <a:off x="7955280" y="1993392"/>
            <a:ext cx="3383280" cy="292608"/>
          </a:xfrm>
          <a:prstGeom prst="rect">
            <a:avLst/>
          </a:prstGeom>
          <a:noFill/>
          <a:ln/>
        </p:spPr>
        <p:txBody>
          <a:bodyPr wrap="square" lIns="0" tIns="0" rIns="0" bIns="0" rtlCol="0" anchor="ctr"/>
          <a:lstStyle/>
          <a:p>
            <a:pPr indent="0" marL="0">
              <a:buNone/>
            </a:pPr>
            <a:r>
              <a:rPr lang="en-US" sz="1200" dirty="0">
                <a:solidFill>
                  <a:srgbClr val="6D645A"/>
                </a:solidFill>
                <a:latin typeface="Calibri" pitchFamily="34" charset="0"/>
                <a:ea typeface="Calibri" pitchFamily="34" charset="-122"/>
                <a:cs typeface="Calibri" pitchFamily="34" charset="-120"/>
              </a:rPr>
              <a:t>iepirkuma daļa</a:t>
            </a:r>
            <a:endParaRPr lang="en-US" sz="1200" dirty="0"/>
          </a:p>
        </p:txBody>
      </p:sp>
      <p:sp>
        <p:nvSpPr>
          <p:cNvPr id="9" name="Shape 7"/>
          <p:cNvSpPr/>
          <p:nvPr/>
        </p:nvSpPr>
        <p:spPr>
          <a:xfrm>
            <a:off x="7680960" y="2624328"/>
            <a:ext cx="3931920" cy="1005840"/>
          </a:xfrm>
          <a:prstGeom prst="roundRect">
            <a:avLst>
              <a:gd name="adj" fmla="val 9091"/>
            </a:avLst>
          </a:prstGeom>
          <a:solidFill>
            <a:srgbClr val="FFFFFF"/>
          </a:solidFill>
          <a:ln w="12700">
            <a:solidFill>
              <a:srgbClr val="E7DED0"/>
            </a:solidFill>
            <a:prstDash val="solid"/>
          </a:ln>
        </p:spPr>
      </p:sp>
      <p:sp>
        <p:nvSpPr>
          <p:cNvPr id="10" name="Text 8"/>
          <p:cNvSpPr/>
          <p:nvPr/>
        </p:nvSpPr>
        <p:spPr>
          <a:xfrm>
            <a:off x="7955280" y="2697480"/>
            <a:ext cx="3383280" cy="502920"/>
          </a:xfrm>
          <a:prstGeom prst="rect">
            <a:avLst/>
          </a:prstGeom>
          <a:noFill/>
          <a:ln/>
        </p:spPr>
        <p:txBody>
          <a:bodyPr wrap="square" lIns="0" tIns="0" rIns="0" bIns="0" rtlCol="0" anchor="ctr"/>
          <a:lstStyle/>
          <a:p>
            <a:pPr indent="0" marL="0">
              <a:buNone/>
            </a:pPr>
            <a:r>
              <a:rPr lang="en-US" sz="2700" b="1" dirty="0">
                <a:solidFill>
                  <a:srgbClr val="1F7A5F"/>
                </a:solidFill>
                <a:latin typeface="Cambria" pitchFamily="34" charset="0"/>
                <a:ea typeface="Cambria" pitchFamily="34" charset="-122"/>
                <a:cs typeface="Cambria" pitchFamily="34" charset="-120"/>
              </a:rPr>
              <a:t>843</a:t>
            </a:r>
            <a:endParaRPr lang="en-US" sz="2700" dirty="0"/>
          </a:p>
        </p:txBody>
      </p:sp>
      <p:sp>
        <p:nvSpPr>
          <p:cNvPr id="11" name="Text 9"/>
          <p:cNvSpPr/>
          <p:nvPr/>
        </p:nvSpPr>
        <p:spPr>
          <a:xfrm>
            <a:off x="7955280" y="3200400"/>
            <a:ext cx="3383280" cy="292608"/>
          </a:xfrm>
          <a:prstGeom prst="rect">
            <a:avLst/>
          </a:prstGeom>
          <a:noFill/>
          <a:ln/>
        </p:spPr>
        <p:txBody>
          <a:bodyPr wrap="square" lIns="0" tIns="0" rIns="0" bIns="0" rtlCol="0" anchor="ctr"/>
          <a:lstStyle/>
          <a:p>
            <a:pPr indent="0" marL="0">
              <a:buNone/>
            </a:pPr>
            <a:r>
              <a:rPr lang="en-US" sz="1200" dirty="0">
                <a:solidFill>
                  <a:srgbClr val="6D645A"/>
                </a:solidFill>
                <a:latin typeface="Calibri" pitchFamily="34" charset="0"/>
                <a:ea typeface="Calibri" pitchFamily="34" charset="-122"/>
                <a:cs typeface="Calibri" pitchFamily="34" charset="-120"/>
              </a:rPr>
              <a:t>pasūtītāji</a:t>
            </a:r>
            <a:endParaRPr lang="en-US" sz="1200" dirty="0"/>
          </a:p>
        </p:txBody>
      </p:sp>
      <p:sp>
        <p:nvSpPr>
          <p:cNvPr id="12" name="Shape 10"/>
          <p:cNvSpPr/>
          <p:nvPr/>
        </p:nvSpPr>
        <p:spPr>
          <a:xfrm>
            <a:off x="7680960" y="3831336"/>
            <a:ext cx="3931920" cy="1005840"/>
          </a:xfrm>
          <a:prstGeom prst="roundRect">
            <a:avLst>
              <a:gd name="adj" fmla="val 9091"/>
            </a:avLst>
          </a:prstGeom>
          <a:solidFill>
            <a:srgbClr val="FFFFFF"/>
          </a:solidFill>
          <a:ln w="12700">
            <a:solidFill>
              <a:srgbClr val="E7DED0"/>
            </a:solidFill>
            <a:prstDash val="solid"/>
          </a:ln>
        </p:spPr>
      </p:sp>
      <p:sp>
        <p:nvSpPr>
          <p:cNvPr id="13" name="Text 11"/>
          <p:cNvSpPr/>
          <p:nvPr/>
        </p:nvSpPr>
        <p:spPr>
          <a:xfrm>
            <a:off x="7955280" y="3904488"/>
            <a:ext cx="3383280" cy="502920"/>
          </a:xfrm>
          <a:prstGeom prst="rect">
            <a:avLst/>
          </a:prstGeom>
          <a:noFill/>
          <a:ln/>
        </p:spPr>
        <p:txBody>
          <a:bodyPr wrap="square" lIns="0" tIns="0" rIns="0" bIns="0" rtlCol="0" anchor="ctr"/>
          <a:lstStyle/>
          <a:p>
            <a:pPr indent="0" marL="0">
              <a:buNone/>
            </a:pPr>
            <a:r>
              <a:rPr lang="en-US" sz="2700" b="1" dirty="0">
                <a:solidFill>
                  <a:srgbClr val="1F7A5F"/>
                </a:solidFill>
                <a:latin typeface="Cambria" pitchFamily="34" charset="0"/>
                <a:ea typeface="Cambria" pitchFamily="34" charset="-122"/>
                <a:cs typeface="Cambria" pitchFamily="34" charset="-120"/>
              </a:rPr>
              <a:t>6,1 mljrd. eiro</a:t>
            </a:r>
            <a:endParaRPr lang="en-US" sz="2700" dirty="0"/>
          </a:p>
        </p:txBody>
      </p:sp>
      <p:sp>
        <p:nvSpPr>
          <p:cNvPr id="14" name="Text 12"/>
          <p:cNvSpPr/>
          <p:nvPr/>
        </p:nvSpPr>
        <p:spPr>
          <a:xfrm>
            <a:off x="7955280" y="4407408"/>
            <a:ext cx="3383280" cy="292608"/>
          </a:xfrm>
          <a:prstGeom prst="rect">
            <a:avLst/>
          </a:prstGeom>
          <a:noFill/>
          <a:ln/>
        </p:spPr>
        <p:txBody>
          <a:bodyPr wrap="square" lIns="0" tIns="0" rIns="0" bIns="0" rtlCol="0" anchor="ctr"/>
          <a:lstStyle/>
          <a:p>
            <a:pPr indent="0" marL="0">
              <a:buNone/>
            </a:pPr>
            <a:r>
              <a:rPr lang="en-US" sz="1200" dirty="0">
                <a:solidFill>
                  <a:srgbClr val="6D645A"/>
                </a:solidFill>
                <a:latin typeface="Calibri" pitchFamily="34" charset="0"/>
                <a:ea typeface="Calibri" pitchFamily="34" charset="-122"/>
                <a:cs typeface="Calibri" pitchFamily="34" charset="-120"/>
              </a:rPr>
              <a:t>kopvērtība</a:t>
            </a:r>
            <a:endParaRPr lang="en-US" sz="1200" dirty="0"/>
          </a:p>
        </p:txBody>
      </p:sp>
      <p:sp>
        <p:nvSpPr>
          <p:cNvPr id="15" name="Text 13"/>
          <p:cNvSpPr/>
          <p:nvPr/>
        </p:nvSpPr>
        <p:spPr>
          <a:xfrm>
            <a:off x="7680960" y="5120640"/>
            <a:ext cx="3931920" cy="274320"/>
          </a:xfrm>
          <a:prstGeom prst="rect">
            <a:avLst/>
          </a:prstGeom>
          <a:noFill/>
          <a:ln/>
        </p:spPr>
        <p:txBody>
          <a:bodyPr wrap="square" rtlCol="0" anchor="ctr"/>
          <a:lstStyle/>
          <a:p>
            <a:pPr indent="0" marL="0">
              <a:buNone/>
            </a:pPr>
            <a:r>
              <a:rPr lang="en-US" sz="1100" i="1" dirty="0">
                <a:solidFill>
                  <a:srgbClr val="6D645A"/>
                </a:solidFill>
                <a:latin typeface="Calibri" pitchFamily="34" charset="0"/>
                <a:ea typeface="Calibri" pitchFamily="34" charset="-122"/>
                <a:cs typeface="Calibri" pitchFamily="34" charset="-120"/>
              </a:rPr>
              <a:t>Periods: 18.06.2025.–17.06.2026.</a:t>
            </a:r>
            <a:endParaRPr lang="en-US" sz="1100" dirty="0"/>
          </a:p>
        </p:txBody>
      </p:sp>
      <p:sp>
        <p:nvSpPr>
          <p:cNvPr id="16" name="Text 14"/>
          <p:cNvSpPr/>
          <p:nvPr/>
        </p:nvSpPr>
        <p:spPr>
          <a:xfrm>
            <a:off x="548640" y="4160520"/>
            <a:ext cx="6583680" cy="640080"/>
          </a:xfrm>
          <a:prstGeom prst="rect">
            <a:avLst/>
          </a:prstGeom>
          <a:noFill/>
          <a:ln/>
        </p:spPr>
        <p:txBody>
          <a:bodyPr wrap="square" rtlCol="0" anchor="ctr"/>
          <a:lstStyle/>
          <a:p>
            <a:pPr indent="0" marL="0">
              <a:lnSpc>
                <a:spcPts val="1700"/>
              </a:lnSpc>
              <a:buNone/>
            </a:pPr>
            <a:r>
              <a:rPr lang="en-US" sz="1250" i="1" dirty="0">
                <a:solidFill>
                  <a:srgbClr val="6D645A"/>
                </a:solidFill>
                <a:latin typeface="Calibri" pitchFamily="34" charset="0"/>
                <a:ea typeface="Calibri" pitchFamily="34" charset="-122"/>
                <a:cs typeface="Calibri" pitchFamily="34" charset="-120"/>
              </a:rPr>
              <a:t>Karogs nav pierādījums — tā ir statistiska pazīme, nevis apsūdzība. Kļūdas tiek labotas; neviena iestāde netiek pārsteigta.</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7A5F"/>
        </a:solidFill>
      </p:bgPr>
    </p:bg>
    <p:spTree>
      <p:nvGrpSpPr>
        <p:cNvPr id="1" name=""/>
        <p:cNvGrpSpPr/>
        <p:nvPr/>
      </p:nvGrpSpPr>
      <p:grpSpPr>
        <a:xfrm>
          <a:off x="0" y="0"/>
          <a:ext cx="0" cy="0"/>
          <a:chOff x="0" y="0"/>
          <a:chExt cx="0" cy="0"/>
        </a:xfrm>
      </p:grpSpPr>
      <p:sp>
        <p:nvSpPr>
          <p:cNvPr id="2" name="Text 0"/>
          <p:cNvSpPr/>
          <p:nvPr/>
        </p:nvSpPr>
        <p:spPr>
          <a:xfrm>
            <a:off x="731520" y="1234440"/>
            <a:ext cx="10607040" cy="457200"/>
          </a:xfrm>
          <a:prstGeom prst="rect">
            <a:avLst/>
          </a:prstGeom>
          <a:noFill/>
          <a:ln/>
        </p:spPr>
        <p:txBody>
          <a:bodyPr wrap="square" rtlCol="0" anchor="ctr"/>
          <a:lstStyle/>
          <a:p>
            <a:pPr indent="0" marL="0">
              <a:buNone/>
            </a:pPr>
            <a:r>
              <a:rPr lang="en-US" sz="1700" dirty="0">
                <a:solidFill>
                  <a:srgbClr val="C6E3D5"/>
                </a:solidFill>
                <a:latin typeface="Calibri" pitchFamily="34" charset="0"/>
                <a:ea typeface="Calibri" pitchFamily="34" charset="-122"/>
                <a:cs typeface="Calibri" pitchFamily="34" charset="-120"/>
              </a:rPr>
              <a:t>Galvenais priekšlikums ir viens</a:t>
            </a:r>
            <a:endParaRPr lang="en-US" sz="1700" dirty="0"/>
          </a:p>
        </p:txBody>
      </p:sp>
      <p:sp>
        <p:nvSpPr>
          <p:cNvPr id="3" name="Text 1"/>
          <p:cNvSpPr/>
          <p:nvPr/>
        </p:nvSpPr>
        <p:spPr>
          <a:xfrm>
            <a:off x="731520" y="1828800"/>
            <a:ext cx="10607040" cy="1828800"/>
          </a:xfrm>
          <a:prstGeom prst="rect">
            <a:avLst/>
          </a:prstGeom>
          <a:noFill/>
          <a:ln/>
        </p:spPr>
        <p:txBody>
          <a:bodyPr wrap="square" rtlCol="0" anchor="ctr"/>
          <a:lstStyle/>
          <a:p>
            <a:pPr indent="0" marL="0">
              <a:lnSpc>
                <a:spcPts val="4600"/>
              </a:lnSpc>
              <a:buNone/>
            </a:pPr>
            <a:r>
              <a:rPr lang="en-US" sz="3600" b="1" dirty="0">
                <a:solidFill>
                  <a:srgbClr val="FFFFFF"/>
                </a:solidFill>
                <a:latin typeface="Cambria" pitchFamily="34" charset="0"/>
                <a:ea typeface="Cambria" pitchFamily="34" charset="-122"/>
                <a:cs typeface="Cambria" pitchFamily="34" charset="-120"/>
              </a:rPr>
              <a:t>Padarīt jau šobrīd publiskās</a:t>
            </a:r>
            <a:endParaRPr lang="en-US" sz="3600" dirty="0"/>
          </a:p>
          <a:p>
            <a:pPr indent="0" marL="0">
              <a:lnSpc>
                <a:spcPts val="4600"/>
              </a:lnSpc>
              <a:buNone/>
            </a:pPr>
            <a:r>
              <a:rPr lang="en-US" sz="3600" b="1" dirty="0">
                <a:solidFill>
                  <a:srgbClr val="FFFFFF"/>
                </a:solidFill>
                <a:latin typeface="Cambria" pitchFamily="34" charset="0"/>
                <a:ea typeface="Cambria" pitchFamily="34" charset="-122"/>
                <a:cs typeface="Cambria" pitchFamily="34" charset="-120"/>
              </a:rPr>
              <a:t>piedāvājumu cenas atkalizmantojamas</a:t>
            </a:r>
            <a:endParaRPr lang="en-US" sz="3600" dirty="0"/>
          </a:p>
        </p:txBody>
      </p:sp>
      <p:sp>
        <p:nvSpPr>
          <p:cNvPr id="4" name="Text 2"/>
          <p:cNvSpPr/>
          <p:nvPr/>
        </p:nvSpPr>
        <p:spPr>
          <a:xfrm>
            <a:off x="731520" y="3977640"/>
            <a:ext cx="10607040" cy="457200"/>
          </a:xfrm>
          <a:prstGeom prst="rect">
            <a:avLst/>
          </a:prstGeom>
          <a:noFill/>
          <a:ln/>
        </p:spPr>
        <p:txBody>
          <a:bodyPr wrap="square" rtlCol="0" anchor="ctr"/>
          <a:lstStyle/>
          <a:p>
            <a:pPr indent="0" marL="0">
              <a:buNone/>
            </a:pPr>
            <a:r>
              <a:rPr lang="en-US" sz="1900" i="1" dirty="0">
                <a:solidFill>
                  <a:srgbClr val="DCEDE4"/>
                </a:solidFill>
                <a:latin typeface="Calibri" pitchFamily="34" charset="0"/>
                <a:ea typeface="Calibri" pitchFamily="34" charset="-122"/>
                <a:cs typeface="Calibri" pitchFamily="34" charset="-120"/>
              </a:rPr>
              <a:t>Runa nav par jaunas informācijas atklāšanu — vienīgi par tās formātu.</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EFE6"/>
        </a:solidFill>
      </p:bgPr>
    </p:bg>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000" b="1" dirty="0">
                <a:solidFill>
                  <a:srgbClr val="1B2A24"/>
                </a:solidFill>
                <a:latin typeface="Cambria" pitchFamily="34" charset="0"/>
                <a:ea typeface="Cambria" pitchFamily="34" charset="-122"/>
                <a:cs typeface="Cambria" pitchFamily="34" charset="-120"/>
              </a:rPr>
              <a:t>Zinām, kurš piedalījās. Nezinām, par kādu summu.</a:t>
            </a:r>
            <a:endParaRPr lang="en-US" sz="3000" dirty="0"/>
          </a:p>
        </p:txBody>
      </p:sp>
      <p:sp>
        <p:nvSpPr>
          <p:cNvPr id="3" name="Shape 1"/>
          <p:cNvSpPr/>
          <p:nvPr/>
        </p:nvSpPr>
        <p:spPr>
          <a:xfrm>
            <a:off x="548640" y="1463040"/>
            <a:ext cx="5394960" cy="2697480"/>
          </a:xfrm>
          <a:prstGeom prst="roundRect">
            <a:avLst>
              <a:gd name="adj" fmla="val 3390"/>
            </a:avLst>
          </a:prstGeom>
          <a:solidFill>
            <a:srgbClr val="E3EFE9"/>
          </a:solidFill>
          <a:ln w="12700">
            <a:solidFill>
              <a:srgbClr val="E7DED0"/>
            </a:solidFill>
            <a:prstDash val="solid"/>
          </a:ln>
        </p:spPr>
      </p:sp>
      <p:sp>
        <p:nvSpPr>
          <p:cNvPr id="4" name="Text 2"/>
          <p:cNvSpPr/>
          <p:nvPr/>
        </p:nvSpPr>
        <p:spPr>
          <a:xfrm>
            <a:off x="868680" y="1691640"/>
            <a:ext cx="4754880" cy="320040"/>
          </a:xfrm>
          <a:prstGeom prst="rect">
            <a:avLst/>
          </a:prstGeom>
          <a:noFill/>
          <a:ln/>
        </p:spPr>
        <p:txBody>
          <a:bodyPr wrap="square" rtlCol="0" anchor="ctr"/>
          <a:lstStyle/>
          <a:p>
            <a:pPr indent="0" marL="0">
              <a:buNone/>
            </a:pPr>
            <a:r>
              <a:rPr lang="en-US" sz="1200" b="1" spc="100" kern="0" dirty="0">
                <a:solidFill>
                  <a:srgbClr val="1F7A5F"/>
                </a:solidFill>
                <a:latin typeface="Calibri" pitchFamily="34" charset="0"/>
                <a:ea typeface="Calibri" pitchFamily="34" charset="-122"/>
                <a:cs typeface="Calibri" pitchFamily="34" charset="-120"/>
              </a:rPr>
              <a:t>KO REDZAM</a:t>
            </a:r>
            <a:endParaRPr lang="en-US" sz="1200" dirty="0"/>
          </a:p>
        </p:txBody>
      </p:sp>
      <p:sp>
        <p:nvSpPr>
          <p:cNvPr id="5" name="Text 3"/>
          <p:cNvSpPr/>
          <p:nvPr/>
        </p:nvSpPr>
        <p:spPr>
          <a:xfrm>
            <a:off x="868680" y="2148840"/>
            <a:ext cx="4754880" cy="23774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B2A24"/>
                </a:solidFill>
                <a:latin typeface="Calibri" pitchFamily="34" charset="0"/>
                <a:ea typeface="Calibri" pitchFamily="34" charset="-122"/>
                <a:cs typeface="Calibri" pitchFamily="34" charset="-120"/>
              </a:rPr>
              <a:t>Saņemto piedāvājumu skaitu</a:t>
            </a:r>
            <a:endParaRPr lang="en-US" sz="1500" dirty="0"/>
          </a:p>
          <a:p>
            <a:pPr marL="342900" indent="-342900">
              <a:spcAft>
                <a:spcPts val="1000"/>
              </a:spcAft>
              <a:buSzPct val="100000"/>
              <a:buChar char="•"/>
            </a:pPr>
            <a:r>
              <a:rPr lang="en-US" sz="1500" dirty="0">
                <a:solidFill>
                  <a:srgbClr val="1B2A24"/>
                </a:solidFill>
                <a:latin typeface="Calibri" pitchFamily="34" charset="0"/>
                <a:ea typeface="Calibri" pitchFamily="34" charset="-122"/>
                <a:cs typeface="Calibri" pitchFamily="34" charset="-120"/>
              </a:rPr>
              <a:t>Uzvarētāju</a:t>
            </a:r>
            <a:endParaRPr lang="en-US" sz="1500" dirty="0"/>
          </a:p>
          <a:p>
            <a:pPr marL="342900" indent="-342900">
              <a:spcAft>
                <a:spcPts val="1000"/>
              </a:spcAft>
              <a:buSzPct val="100000"/>
              <a:buChar char="•"/>
            </a:pPr>
            <a:r>
              <a:rPr lang="en-US" sz="1500" dirty="0">
                <a:solidFill>
                  <a:srgbClr val="1B2A24"/>
                </a:solidFill>
                <a:latin typeface="Calibri" pitchFamily="34" charset="0"/>
                <a:ea typeface="Calibri" pitchFamily="34" charset="-122"/>
                <a:cs typeface="Calibri" pitchFamily="34" charset="-120"/>
              </a:rPr>
              <a:t>Uzvarējušā piedāvājuma summu</a:t>
            </a:r>
            <a:endParaRPr lang="en-US" sz="1500" dirty="0"/>
          </a:p>
          <a:p>
            <a:pPr marL="342900" indent="-342900">
              <a:spcAft>
                <a:spcPts val="1000"/>
              </a:spcAft>
              <a:buSzPct val="100000"/>
              <a:buChar char="•"/>
            </a:pPr>
            <a:r>
              <a:rPr lang="en-US" sz="1500" dirty="0">
                <a:solidFill>
                  <a:srgbClr val="1B2A24"/>
                </a:solidFill>
                <a:latin typeface="Calibri" pitchFamily="34" charset="0"/>
                <a:ea typeface="Calibri" pitchFamily="34" charset="-122"/>
                <a:cs typeface="Calibri" pitchFamily="34" charset="-120"/>
              </a:rPr>
              <a:t>Kurš pretendents piedalījās (daļēji)</a:t>
            </a:r>
            <a:endParaRPr lang="en-US" sz="1500" dirty="0"/>
          </a:p>
        </p:txBody>
      </p:sp>
      <p:sp>
        <p:nvSpPr>
          <p:cNvPr id="6" name="Shape 4"/>
          <p:cNvSpPr/>
          <p:nvPr/>
        </p:nvSpPr>
        <p:spPr>
          <a:xfrm>
            <a:off x="6263640" y="1463040"/>
            <a:ext cx="5349240" cy="2697480"/>
          </a:xfrm>
          <a:prstGeom prst="roundRect">
            <a:avLst>
              <a:gd name="adj" fmla="val 3390"/>
            </a:avLst>
          </a:prstGeom>
          <a:solidFill>
            <a:srgbClr val="FBE2DD"/>
          </a:solidFill>
          <a:ln w="12700">
            <a:solidFill>
              <a:srgbClr val="E7DED0"/>
            </a:solidFill>
            <a:prstDash val="solid"/>
          </a:ln>
        </p:spPr>
      </p:sp>
      <p:sp>
        <p:nvSpPr>
          <p:cNvPr id="7" name="Text 5"/>
          <p:cNvSpPr/>
          <p:nvPr/>
        </p:nvSpPr>
        <p:spPr>
          <a:xfrm>
            <a:off x="6583680" y="1691640"/>
            <a:ext cx="4754880" cy="320040"/>
          </a:xfrm>
          <a:prstGeom prst="rect">
            <a:avLst/>
          </a:prstGeom>
          <a:noFill/>
          <a:ln/>
        </p:spPr>
        <p:txBody>
          <a:bodyPr wrap="square" rtlCol="0" anchor="ctr"/>
          <a:lstStyle/>
          <a:p>
            <a:pPr indent="0" marL="0">
              <a:buNone/>
            </a:pPr>
            <a:r>
              <a:rPr lang="en-US" sz="1200" b="1" spc="100" kern="0" dirty="0">
                <a:solidFill>
                  <a:srgbClr val="B23420"/>
                </a:solidFill>
                <a:latin typeface="Calibri" pitchFamily="34" charset="0"/>
                <a:ea typeface="Calibri" pitchFamily="34" charset="-122"/>
                <a:cs typeface="Calibri" pitchFamily="34" charset="-120"/>
              </a:rPr>
              <a:t>KO NEREDZAM</a:t>
            </a:r>
            <a:endParaRPr lang="en-US" sz="1200" dirty="0"/>
          </a:p>
        </p:txBody>
      </p:sp>
      <p:sp>
        <p:nvSpPr>
          <p:cNvPr id="8" name="Text 6"/>
          <p:cNvSpPr/>
          <p:nvPr/>
        </p:nvSpPr>
        <p:spPr>
          <a:xfrm>
            <a:off x="6583680" y="2148840"/>
            <a:ext cx="4754880" cy="23774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B2A24"/>
                </a:solidFill>
                <a:latin typeface="Calibri" pitchFamily="34" charset="0"/>
                <a:ea typeface="Calibri" pitchFamily="34" charset="-122"/>
                <a:cs typeface="Calibri" pitchFamily="34" charset="-120"/>
              </a:rPr>
              <a:t>Ko piedāvāja pārējie pretendenti</a:t>
            </a:r>
            <a:endParaRPr lang="en-US" sz="1500" dirty="0"/>
          </a:p>
          <a:p>
            <a:pPr marL="342900" indent="-342900">
              <a:spcAft>
                <a:spcPts val="1000"/>
              </a:spcAft>
              <a:buSzPct val="100000"/>
              <a:buChar char="•"/>
            </a:pPr>
            <a:r>
              <a:rPr lang="en-US" sz="1500" dirty="0">
                <a:solidFill>
                  <a:srgbClr val="1B2A24"/>
                </a:solidFill>
                <a:latin typeface="Calibri" pitchFamily="34" charset="0"/>
                <a:ea typeface="Calibri" pitchFamily="34" charset="-122"/>
                <a:cs typeface="Calibri" pitchFamily="34" charset="-120"/>
              </a:rPr>
              <a:t>Paredzamo līgumcenu</a:t>
            </a:r>
            <a:endParaRPr lang="en-US" sz="1500" dirty="0"/>
          </a:p>
          <a:p>
            <a:pPr marL="342900" indent="-342900">
              <a:spcAft>
                <a:spcPts val="1000"/>
              </a:spcAft>
              <a:buSzPct val="100000"/>
              <a:buChar char="•"/>
            </a:pPr>
            <a:r>
              <a:rPr lang="en-US" sz="1500" dirty="0">
                <a:solidFill>
                  <a:srgbClr val="1B2A24"/>
                </a:solidFill>
                <a:latin typeface="Calibri" pitchFamily="34" charset="0"/>
                <a:ea typeface="Calibri" pitchFamily="34" charset="-122"/>
                <a:cs typeface="Calibri" pitchFamily="34" charset="-120"/>
              </a:rPr>
              <a:t>Kāpēc piedāvājumi noraidīti</a:t>
            </a:r>
            <a:endParaRPr lang="en-US" sz="1500" dirty="0"/>
          </a:p>
          <a:p>
            <a:pPr marL="342900" indent="-342900">
              <a:spcAft>
                <a:spcPts val="1000"/>
              </a:spcAft>
              <a:buSzPct val="100000"/>
              <a:buChar char="•"/>
            </a:pPr>
            <a:r>
              <a:rPr lang="en-US" sz="1500" dirty="0">
                <a:solidFill>
                  <a:srgbClr val="1B2A24"/>
                </a:solidFill>
                <a:latin typeface="Calibri" pitchFamily="34" charset="0"/>
                <a:ea typeface="Calibri" pitchFamily="34" charset="-122"/>
                <a:cs typeface="Calibri" pitchFamily="34" charset="-120"/>
              </a:rPr>
              <a:t>Vērtēšanas kritēriju punktus</a:t>
            </a:r>
            <a:endParaRPr lang="en-US" sz="1500" dirty="0"/>
          </a:p>
          <a:p>
            <a:pPr marL="342900" indent="-342900">
              <a:spcAft>
                <a:spcPts val="1000"/>
              </a:spcAft>
              <a:buSzPct val="100000"/>
              <a:buChar char="•"/>
            </a:pPr>
            <a:r>
              <a:rPr lang="en-US" sz="1500" dirty="0">
                <a:solidFill>
                  <a:srgbClr val="1B2A24"/>
                </a:solidFill>
                <a:latin typeface="Calibri" pitchFamily="34" charset="0"/>
                <a:ea typeface="Calibri" pitchFamily="34" charset="-122"/>
                <a:cs typeface="Calibri" pitchFamily="34" charset="-120"/>
              </a:rPr>
              <a:t>Apakšuzņēmējus</a:t>
            </a:r>
            <a:endParaRPr lang="en-US" sz="1500" dirty="0"/>
          </a:p>
        </p:txBody>
      </p:sp>
      <p:sp>
        <p:nvSpPr>
          <p:cNvPr id="9" name="Shape 7"/>
          <p:cNvSpPr/>
          <p:nvPr/>
        </p:nvSpPr>
        <p:spPr>
          <a:xfrm>
            <a:off x="548640" y="4526280"/>
            <a:ext cx="11064240" cy="1005840"/>
          </a:xfrm>
          <a:prstGeom prst="roundRect">
            <a:avLst>
              <a:gd name="adj" fmla="val 9091"/>
            </a:avLst>
          </a:prstGeom>
          <a:solidFill>
            <a:srgbClr val="FFFFFF"/>
          </a:solidFill>
          <a:ln w="12700">
            <a:solidFill>
              <a:srgbClr val="E7DED0"/>
            </a:solidFill>
            <a:prstDash val="solid"/>
          </a:ln>
        </p:spPr>
      </p:sp>
      <p:sp>
        <p:nvSpPr>
          <p:cNvPr id="10" name="Text 8"/>
          <p:cNvSpPr/>
          <p:nvPr/>
        </p:nvSpPr>
        <p:spPr>
          <a:xfrm>
            <a:off x="868680" y="4663440"/>
            <a:ext cx="10424160" cy="731520"/>
          </a:xfrm>
          <a:prstGeom prst="rect">
            <a:avLst/>
          </a:prstGeom>
          <a:noFill/>
          <a:ln/>
        </p:spPr>
        <p:txBody>
          <a:bodyPr wrap="square" lIns="0" tIns="0" rIns="0" bIns="0" rtlCol="0" anchor="ctr"/>
          <a:lstStyle/>
          <a:p>
            <a:pPr indent="0" marL="0">
              <a:buNone/>
            </a:pPr>
            <a:r>
              <a:rPr lang="en-US" sz="2400" b="1" dirty="0">
                <a:solidFill>
                  <a:srgbClr val="B23420"/>
                </a:solidFill>
                <a:latin typeface="Cambria" pitchFamily="34" charset="0"/>
                <a:ea typeface="Cambria" pitchFamily="34" charset="-122"/>
                <a:cs typeface="Cambria" pitchFamily="34" charset="-120"/>
              </a:rPr>
              <a:t>91 612</a:t>
            </a:r>
            <a:pPr indent="0" marL="0">
              <a:buNone/>
            </a:pPr>
            <a:r>
              <a:rPr lang="en-US" sz="1500" dirty="0">
                <a:solidFill>
                  <a:srgbClr val="1B2A24"/>
                </a:solidFill>
                <a:latin typeface="Calibri" pitchFamily="34" charset="0"/>
                <a:ea typeface="Calibri" pitchFamily="34" charset="-122"/>
                <a:cs typeface="Calibri" pitchFamily="34" charset="-120"/>
              </a:rPr>
              <a:t>  apkopoti dalības ieraksti no publiskajiem avotiem —  </a:t>
            </a:r>
            <a:pPr indent="0" marL="0">
              <a:buNone/>
            </a:pPr>
            <a:r>
              <a:rPr lang="en-US" sz="1500" b="1" dirty="0">
                <a:solidFill>
                  <a:srgbClr val="1B2A24"/>
                </a:solidFill>
                <a:latin typeface="Calibri" pitchFamily="34" charset="0"/>
                <a:ea typeface="Calibri" pitchFamily="34" charset="-122"/>
                <a:cs typeface="Calibri" pitchFamily="34" charset="-120"/>
              </a:rPr>
              <a:t>nevienā nav pieejama piedāvātā cena strukturētā veidā</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EFE6"/>
        </a:solidFill>
      </p:bgPr>
    </p:bg>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000" b="1" dirty="0">
                <a:solidFill>
                  <a:srgbClr val="1B2A24"/>
                </a:solidFill>
                <a:latin typeface="Cambria" pitchFamily="34" charset="0"/>
                <a:ea typeface="Cambria" pitchFamily="34" charset="-122"/>
                <a:cs typeface="Cambria" pitchFamily="34" charset="-120"/>
              </a:rPr>
              <a:t>Precīzi: ko var un ko nevar pārbaudīt</a:t>
            </a:r>
            <a:endParaRPr lang="en-US" sz="3000" dirty="0"/>
          </a:p>
        </p:txBody>
      </p:sp>
      <p:sp>
        <p:nvSpPr>
          <p:cNvPr id="3" name="Text 1"/>
          <p:cNvSpPr/>
          <p:nvPr/>
        </p:nvSpPr>
        <p:spPr>
          <a:xfrm>
            <a:off x="548640" y="969264"/>
            <a:ext cx="11064240" cy="329184"/>
          </a:xfrm>
          <a:prstGeom prst="rect">
            <a:avLst/>
          </a:prstGeom>
          <a:noFill/>
          <a:ln/>
        </p:spPr>
        <p:txBody>
          <a:bodyPr wrap="square" lIns="0" tIns="0" rIns="0" bIns="0" rtlCol="0" anchor="ctr"/>
          <a:lstStyle/>
          <a:p>
            <a:pPr indent="0" marL="0">
              <a:buNone/>
            </a:pPr>
            <a:r>
              <a:rPr lang="en-US" sz="1400" dirty="0">
                <a:solidFill>
                  <a:srgbClr val="6D645A"/>
                </a:solidFill>
                <a:latin typeface="Calibri" pitchFamily="34" charset="0"/>
                <a:ea typeface="Calibri" pitchFamily="34" charset="-122"/>
                <a:cs typeface="Calibri" pitchFamily="34" charset="-120"/>
              </a:rPr>
              <a:t>Sekas ir atšķirīgas dažādām saskaņotas rīcības shēmām.</a:t>
            </a:r>
            <a:endParaRPr lang="en-US" sz="1400" dirty="0"/>
          </a:p>
        </p:txBody>
      </p:sp>
      <p:sp>
        <p:nvSpPr>
          <p:cNvPr id="4" name="Shape 2"/>
          <p:cNvSpPr/>
          <p:nvPr/>
        </p:nvSpPr>
        <p:spPr>
          <a:xfrm>
            <a:off x="548640" y="1600200"/>
            <a:ext cx="5394960" cy="2834640"/>
          </a:xfrm>
          <a:prstGeom prst="roundRect">
            <a:avLst>
              <a:gd name="adj" fmla="val 3226"/>
            </a:avLst>
          </a:prstGeom>
          <a:solidFill>
            <a:srgbClr val="E3EFE9"/>
          </a:solidFill>
          <a:ln w="12700">
            <a:solidFill>
              <a:srgbClr val="E7DED0"/>
            </a:solidFill>
            <a:prstDash val="solid"/>
          </a:ln>
        </p:spPr>
      </p:sp>
      <p:sp>
        <p:nvSpPr>
          <p:cNvPr id="5" name="Shape 3"/>
          <p:cNvSpPr/>
          <p:nvPr/>
        </p:nvSpPr>
        <p:spPr>
          <a:xfrm>
            <a:off x="868680" y="1874520"/>
            <a:ext cx="384048" cy="384048"/>
          </a:xfrm>
          <a:prstGeom prst="ellipse">
            <a:avLst/>
          </a:prstGeom>
          <a:solidFill>
            <a:srgbClr val="1F7A5F"/>
          </a:solidFill>
          <a:ln w="12700">
            <a:solidFill>
              <a:srgbClr val="1F7A5F"/>
            </a:solidFill>
            <a:prstDash val="solid"/>
          </a:ln>
        </p:spPr>
      </p:sp>
      <p:sp>
        <p:nvSpPr>
          <p:cNvPr id="6" name="Text 4"/>
          <p:cNvSpPr/>
          <p:nvPr/>
        </p:nvSpPr>
        <p:spPr>
          <a:xfrm>
            <a:off x="868680" y="18745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7" name="Text 5"/>
          <p:cNvSpPr/>
          <p:nvPr/>
        </p:nvSpPr>
        <p:spPr>
          <a:xfrm>
            <a:off x="1371600" y="1874520"/>
            <a:ext cx="4297680" cy="384048"/>
          </a:xfrm>
          <a:prstGeom prst="rect">
            <a:avLst/>
          </a:prstGeom>
          <a:noFill/>
          <a:ln/>
        </p:spPr>
        <p:txBody>
          <a:bodyPr wrap="square" lIns="0" tIns="0" rIns="0" bIns="0" rtlCol="0" anchor="ctr"/>
          <a:lstStyle/>
          <a:p>
            <a:pPr indent="0" marL="0">
              <a:buNone/>
            </a:pPr>
            <a:r>
              <a:rPr lang="en-US" sz="1500" b="1" dirty="0">
                <a:solidFill>
                  <a:srgbClr val="0E3B31"/>
                </a:solidFill>
                <a:latin typeface="Calibri" pitchFamily="34" charset="0"/>
                <a:ea typeface="Calibri" pitchFamily="34" charset="-122"/>
                <a:cs typeface="Calibri" pitchFamily="34" charset="-120"/>
              </a:rPr>
              <a:t>IR iespējams — un jau tiek darīts</a:t>
            </a:r>
            <a:endParaRPr lang="en-US" sz="1500" dirty="0"/>
          </a:p>
        </p:txBody>
      </p:sp>
      <p:sp>
        <p:nvSpPr>
          <p:cNvPr id="8" name="Text 6"/>
          <p:cNvSpPr/>
          <p:nvPr/>
        </p:nvSpPr>
        <p:spPr>
          <a:xfrm>
            <a:off x="868680" y="2423160"/>
            <a:ext cx="4754880" cy="274320"/>
          </a:xfrm>
          <a:prstGeom prst="rect">
            <a:avLst/>
          </a:prstGeom>
          <a:noFill/>
          <a:ln/>
        </p:spPr>
        <p:txBody>
          <a:bodyPr wrap="square" lIns="0" tIns="0" rIns="0" bIns="0" rtlCol="0" anchor="ctr"/>
          <a:lstStyle/>
          <a:p>
            <a:pPr indent="0" marL="0">
              <a:buNone/>
            </a:pPr>
            <a:r>
              <a:rPr lang="en-US" sz="1300" dirty="0">
                <a:solidFill>
                  <a:srgbClr val="6D645A"/>
                </a:solidFill>
                <a:latin typeface="Calibri" pitchFamily="34" charset="0"/>
                <a:ea typeface="Calibri" pitchFamily="34" charset="-122"/>
                <a:cs typeface="Calibri" pitchFamily="34" charset="-120"/>
              </a:rPr>
              <a:t>Shēmas, kas balstās uz dalībnieku identitātēm:</a:t>
            </a:r>
            <a:endParaRPr lang="en-US" sz="1300" dirty="0"/>
          </a:p>
        </p:txBody>
      </p:sp>
      <p:sp>
        <p:nvSpPr>
          <p:cNvPr id="9" name="Text 7"/>
          <p:cNvSpPr/>
          <p:nvPr/>
        </p:nvSpPr>
        <p:spPr>
          <a:xfrm>
            <a:off x="868680" y="2788920"/>
            <a:ext cx="4754880" cy="2011680"/>
          </a:xfrm>
          <a:prstGeom prst="rect">
            <a:avLst/>
          </a:prstGeom>
          <a:noFill/>
          <a:ln/>
        </p:spPr>
        <p:txBody>
          <a:bodyPr wrap="square" lIns="0" tIns="0" rIns="0" bIns="0" rtlCol="0" anchor="t"/>
          <a:lstStyle/>
          <a:p>
            <a:pPr marL="342900" indent="-342900">
              <a:spcAft>
                <a:spcPts val="900"/>
              </a:spcAft>
              <a:buSzPct val="100000"/>
              <a:buChar char="•"/>
            </a:pPr>
            <a:r>
              <a:rPr lang="en-US" sz="1450" dirty="0">
                <a:solidFill>
                  <a:srgbClr val="1B2A24"/>
                </a:solidFill>
                <a:latin typeface="Calibri" pitchFamily="34" charset="0"/>
                <a:ea typeface="Calibri" pitchFamily="34" charset="-122"/>
                <a:cs typeface="Calibri" pitchFamily="34" charset="-120"/>
              </a:rPr>
              <a:t>Piedāvājumu rotācija</a:t>
            </a:r>
            <a:endParaRPr lang="en-US" sz="1450" dirty="0"/>
          </a:p>
          <a:p>
            <a:pPr marL="342900" indent="-342900">
              <a:spcAft>
                <a:spcPts val="900"/>
              </a:spcAft>
              <a:buSzPct val="100000"/>
              <a:buChar char="•"/>
            </a:pPr>
            <a:r>
              <a:rPr lang="en-US" sz="1450" dirty="0">
                <a:solidFill>
                  <a:srgbClr val="1B2A24"/>
                </a:solidFill>
                <a:latin typeface="Calibri" pitchFamily="34" charset="0"/>
                <a:ea typeface="Calibri" pitchFamily="34" charset="-122"/>
                <a:cs typeface="Calibri" pitchFamily="34" charset="-120"/>
              </a:rPr>
              <a:t>Kopīga dalība konkursos</a:t>
            </a:r>
            <a:endParaRPr lang="en-US" sz="1450" dirty="0"/>
          </a:p>
          <a:p>
            <a:pPr marL="342900" indent="-342900">
              <a:spcAft>
                <a:spcPts val="900"/>
              </a:spcAft>
              <a:buSzPct val="100000"/>
              <a:buChar char="•"/>
            </a:pPr>
            <a:r>
              <a:rPr lang="en-US" sz="1450" dirty="0">
                <a:solidFill>
                  <a:srgbClr val="1B2A24"/>
                </a:solidFill>
                <a:latin typeface="Calibri" pitchFamily="34" charset="0"/>
                <a:ea typeface="Calibri" pitchFamily="34" charset="-122"/>
                <a:cs typeface="Calibri" pitchFamily="34" charset="-120"/>
              </a:rPr>
              <a:t>Strukturālas saiknes starp pretendentiem</a:t>
            </a:r>
            <a:endParaRPr lang="en-US" sz="1450" dirty="0"/>
          </a:p>
        </p:txBody>
      </p:sp>
      <p:sp>
        <p:nvSpPr>
          <p:cNvPr id="10" name="Shape 8"/>
          <p:cNvSpPr/>
          <p:nvPr/>
        </p:nvSpPr>
        <p:spPr>
          <a:xfrm>
            <a:off x="6263640" y="1600200"/>
            <a:ext cx="5349240" cy="2834640"/>
          </a:xfrm>
          <a:prstGeom prst="roundRect">
            <a:avLst>
              <a:gd name="adj" fmla="val 3226"/>
            </a:avLst>
          </a:prstGeom>
          <a:solidFill>
            <a:srgbClr val="FBE2DD"/>
          </a:solidFill>
          <a:ln w="12700">
            <a:solidFill>
              <a:srgbClr val="E7DED0"/>
            </a:solidFill>
            <a:prstDash val="solid"/>
          </a:ln>
        </p:spPr>
      </p:sp>
      <p:sp>
        <p:nvSpPr>
          <p:cNvPr id="11" name="Shape 9"/>
          <p:cNvSpPr/>
          <p:nvPr/>
        </p:nvSpPr>
        <p:spPr>
          <a:xfrm>
            <a:off x="6583680" y="1874520"/>
            <a:ext cx="384048" cy="384048"/>
          </a:xfrm>
          <a:prstGeom prst="ellipse">
            <a:avLst/>
          </a:prstGeom>
          <a:solidFill>
            <a:srgbClr val="D6402F"/>
          </a:solidFill>
          <a:ln w="12700">
            <a:solidFill>
              <a:srgbClr val="D6402F"/>
            </a:solidFill>
            <a:prstDash val="solid"/>
          </a:ln>
        </p:spPr>
      </p:sp>
      <p:sp>
        <p:nvSpPr>
          <p:cNvPr id="12" name="Text 10"/>
          <p:cNvSpPr/>
          <p:nvPr/>
        </p:nvSpPr>
        <p:spPr>
          <a:xfrm>
            <a:off x="6583680" y="1874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3" name="Text 11"/>
          <p:cNvSpPr/>
          <p:nvPr/>
        </p:nvSpPr>
        <p:spPr>
          <a:xfrm>
            <a:off x="7086600" y="1874520"/>
            <a:ext cx="4297680" cy="384048"/>
          </a:xfrm>
          <a:prstGeom prst="rect">
            <a:avLst/>
          </a:prstGeom>
          <a:noFill/>
          <a:ln/>
        </p:spPr>
        <p:txBody>
          <a:bodyPr wrap="square" lIns="0" tIns="0" rIns="0" bIns="0" rtlCol="0" anchor="ctr"/>
          <a:lstStyle/>
          <a:p>
            <a:pPr indent="0" marL="0">
              <a:buNone/>
            </a:pPr>
            <a:r>
              <a:rPr lang="en-US" sz="1500" b="1" dirty="0">
                <a:solidFill>
                  <a:srgbClr val="B23420"/>
                </a:solidFill>
                <a:latin typeface="Calibri" pitchFamily="34" charset="0"/>
                <a:ea typeface="Calibri" pitchFamily="34" charset="-122"/>
                <a:cs typeface="Calibri" pitchFamily="34" charset="-120"/>
              </a:rPr>
              <a:t>NAV iespējams — principā</a:t>
            </a:r>
            <a:endParaRPr lang="en-US" sz="1500" dirty="0"/>
          </a:p>
        </p:txBody>
      </p:sp>
      <p:sp>
        <p:nvSpPr>
          <p:cNvPr id="14" name="Text 12"/>
          <p:cNvSpPr/>
          <p:nvPr/>
        </p:nvSpPr>
        <p:spPr>
          <a:xfrm>
            <a:off x="6583680" y="2423160"/>
            <a:ext cx="4754880" cy="274320"/>
          </a:xfrm>
          <a:prstGeom prst="rect">
            <a:avLst/>
          </a:prstGeom>
          <a:noFill/>
          <a:ln/>
        </p:spPr>
        <p:txBody>
          <a:bodyPr wrap="square" lIns="0" tIns="0" rIns="0" bIns="0" rtlCol="0" anchor="ctr"/>
          <a:lstStyle/>
          <a:p>
            <a:pPr indent="0" marL="0">
              <a:buNone/>
            </a:pPr>
            <a:r>
              <a:rPr lang="en-US" sz="1300" dirty="0">
                <a:solidFill>
                  <a:srgbClr val="6D645A"/>
                </a:solidFill>
                <a:latin typeface="Calibri" pitchFamily="34" charset="0"/>
                <a:ea typeface="Calibri" pitchFamily="34" charset="-122"/>
                <a:cs typeface="Calibri" pitchFamily="34" charset="-120"/>
              </a:rPr>
              <a:t>Visas cenu analīzē balstītās metodes:</a:t>
            </a:r>
            <a:endParaRPr lang="en-US" sz="1300" dirty="0"/>
          </a:p>
        </p:txBody>
      </p:sp>
      <p:sp>
        <p:nvSpPr>
          <p:cNvPr id="15" name="Text 13"/>
          <p:cNvSpPr/>
          <p:nvPr/>
        </p:nvSpPr>
        <p:spPr>
          <a:xfrm>
            <a:off x="6583680" y="2788920"/>
            <a:ext cx="4754880" cy="2011680"/>
          </a:xfrm>
          <a:prstGeom prst="rect">
            <a:avLst/>
          </a:prstGeom>
          <a:noFill/>
          <a:ln/>
        </p:spPr>
        <p:txBody>
          <a:bodyPr wrap="square" lIns="0" tIns="0" rIns="0" bIns="0" rtlCol="0" anchor="t"/>
          <a:lstStyle/>
          <a:p>
            <a:pPr marL="342900" indent="-342900">
              <a:spcAft>
                <a:spcPts val="900"/>
              </a:spcAft>
              <a:buSzPct val="100000"/>
              <a:buChar char="•"/>
            </a:pPr>
            <a:r>
              <a:rPr lang="en-US" sz="1450" dirty="0">
                <a:solidFill>
                  <a:srgbClr val="1B2A24"/>
                </a:solidFill>
                <a:latin typeface="Calibri" pitchFamily="34" charset="0"/>
                <a:ea typeface="Calibri" pitchFamily="34" charset="-122"/>
                <a:cs typeface="Calibri" pitchFamily="34" charset="-120"/>
              </a:rPr>
              <a:t>Seguma piedāvājumi</a:t>
            </a:r>
            <a:endParaRPr lang="en-US" sz="1450" dirty="0"/>
          </a:p>
          <a:p>
            <a:pPr marL="342900" indent="-342900">
              <a:spcAft>
                <a:spcPts val="900"/>
              </a:spcAft>
              <a:buSzPct val="100000"/>
              <a:buChar char="•"/>
            </a:pPr>
            <a:r>
              <a:rPr lang="en-US" sz="1450" dirty="0">
                <a:solidFill>
                  <a:srgbClr val="1B2A24"/>
                </a:solidFill>
                <a:latin typeface="Calibri" pitchFamily="34" charset="0"/>
                <a:ea typeface="Calibri" pitchFamily="34" charset="-122"/>
                <a:cs typeface="Calibri" pitchFamily="34" charset="-120"/>
              </a:rPr>
              <a:t>Cenu regularitāte (vienāds solis)</a:t>
            </a:r>
            <a:endParaRPr lang="en-US" sz="1450" dirty="0"/>
          </a:p>
          <a:p>
            <a:pPr marL="342900" indent="-342900">
              <a:spcAft>
                <a:spcPts val="900"/>
              </a:spcAft>
              <a:buSzPct val="100000"/>
              <a:buChar char="•"/>
            </a:pPr>
            <a:r>
              <a:rPr lang="en-US" sz="1450" dirty="0">
                <a:solidFill>
                  <a:srgbClr val="1B2A24"/>
                </a:solidFill>
                <a:latin typeface="Calibri" pitchFamily="34" charset="0"/>
                <a:ea typeface="Calibri" pitchFamily="34" charset="-122"/>
                <a:cs typeface="Calibri" pitchFamily="34" charset="-120"/>
              </a:rPr>
              <a:t>Nemainīga zaudēšanas starpība</a:t>
            </a:r>
            <a:endParaRPr lang="en-US" sz="1450" dirty="0"/>
          </a:p>
          <a:p>
            <a:pPr marL="342900" indent="-342900">
              <a:spcAft>
                <a:spcPts val="900"/>
              </a:spcAft>
              <a:buSzPct val="100000"/>
              <a:buChar char="•"/>
            </a:pPr>
            <a:r>
              <a:rPr lang="en-US" sz="1450" dirty="0">
                <a:solidFill>
                  <a:srgbClr val="1B2A24"/>
                </a:solidFill>
                <a:latin typeface="Calibri" pitchFamily="34" charset="0"/>
                <a:ea typeface="Calibri" pitchFamily="34" charset="-122"/>
                <a:cs typeface="Calibri" pitchFamily="34" charset="-120"/>
              </a:rPr>
              <a:t>Neparasta cenu izkliede</a:t>
            </a:r>
            <a:endParaRPr lang="en-US" sz="1450" dirty="0"/>
          </a:p>
        </p:txBody>
      </p:sp>
      <p:sp>
        <p:nvSpPr>
          <p:cNvPr id="16" name="Text 14"/>
          <p:cNvSpPr/>
          <p:nvPr/>
        </p:nvSpPr>
        <p:spPr>
          <a:xfrm>
            <a:off x="548640" y="4709160"/>
            <a:ext cx="11064240" cy="548640"/>
          </a:xfrm>
          <a:prstGeom prst="rect">
            <a:avLst/>
          </a:prstGeom>
          <a:noFill/>
          <a:ln/>
        </p:spPr>
        <p:txBody>
          <a:bodyPr wrap="square" rtlCol="0" anchor="ctr"/>
          <a:lstStyle/>
          <a:p>
            <a:pPr indent="0" marL="0">
              <a:buNone/>
            </a:pPr>
            <a:r>
              <a:rPr lang="en-US" sz="1350" i="1" dirty="0">
                <a:solidFill>
                  <a:srgbClr val="6D645A"/>
                </a:solidFill>
                <a:latin typeface="Calibri" pitchFamily="34" charset="0"/>
                <a:ea typeface="Calibri" pitchFamily="34" charset="-122"/>
                <a:cs typeface="Calibri" pitchFamily="34" charset="-120"/>
              </a:rPr>
              <a:t>Seguma piedāvājumi — kad zaudētāji apzināti piedāvā dārgāk — datos neatšķiras no godīga konkursa ar trim pretendentiem.</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EFE6"/>
        </a:solidFill>
      </p:bgPr>
    </p:bg>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000" b="1" dirty="0">
                <a:solidFill>
                  <a:srgbClr val="1B2A24"/>
                </a:solidFill>
                <a:latin typeface="Cambria" pitchFamily="34" charset="0"/>
                <a:ea typeface="Cambria" pitchFamily="34" charset="-122"/>
                <a:cs typeface="Cambria" pitchFamily="34" charset="-120"/>
              </a:rPr>
              <a:t>Kāpēc tas ir svarīgi</a:t>
            </a:r>
            <a:endParaRPr lang="en-US" sz="3000" dirty="0"/>
          </a:p>
        </p:txBody>
      </p:sp>
      <p:sp>
        <p:nvSpPr>
          <p:cNvPr id="3" name="Shape 1"/>
          <p:cNvSpPr/>
          <p:nvPr/>
        </p:nvSpPr>
        <p:spPr>
          <a:xfrm>
            <a:off x="548640" y="1645920"/>
            <a:ext cx="3520440" cy="2286000"/>
          </a:xfrm>
          <a:prstGeom prst="roundRect">
            <a:avLst>
              <a:gd name="adj" fmla="val 4000"/>
            </a:avLst>
          </a:prstGeom>
          <a:solidFill>
            <a:srgbClr val="FFFFFF"/>
          </a:solidFill>
          <a:ln w="12700">
            <a:solidFill>
              <a:srgbClr val="E7DED0"/>
            </a:solidFill>
            <a:prstDash val="solid"/>
          </a:ln>
        </p:spPr>
      </p:sp>
      <p:sp>
        <p:nvSpPr>
          <p:cNvPr id="4" name="Text 2"/>
          <p:cNvSpPr/>
          <p:nvPr/>
        </p:nvSpPr>
        <p:spPr>
          <a:xfrm>
            <a:off x="822960" y="1874520"/>
            <a:ext cx="3017520" cy="868680"/>
          </a:xfrm>
          <a:prstGeom prst="rect">
            <a:avLst/>
          </a:prstGeom>
          <a:noFill/>
          <a:ln/>
        </p:spPr>
        <p:txBody>
          <a:bodyPr wrap="square" lIns="0" tIns="0" rIns="0" bIns="0" rtlCol="0" anchor="ctr"/>
          <a:lstStyle/>
          <a:p>
            <a:pPr indent="0" marL="0">
              <a:buNone/>
            </a:pPr>
            <a:r>
              <a:rPr lang="en-US" sz="3400" b="1" dirty="0">
                <a:solidFill>
                  <a:srgbClr val="0E3B31"/>
                </a:solidFill>
                <a:latin typeface="Cambria" pitchFamily="34" charset="0"/>
                <a:ea typeface="Cambria" pitchFamily="34" charset="-122"/>
                <a:cs typeface="Cambria" pitchFamily="34" charset="-120"/>
              </a:rPr>
              <a:t>6,1 mljrd.</a:t>
            </a:r>
            <a:endParaRPr lang="en-US" sz="3400" dirty="0"/>
          </a:p>
        </p:txBody>
      </p:sp>
      <p:sp>
        <p:nvSpPr>
          <p:cNvPr id="5" name="Text 3"/>
          <p:cNvSpPr/>
          <p:nvPr/>
        </p:nvSpPr>
        <p:spPr>
          <a:xfrm>
            <a:off x="822960" y="2697480"/>
            <a:ext cx="3017520" cy="320040"/>
          </a:xfrm>
          <a:prstGeom prst="rect">
            <a:avLst/>
          </a:prstGeom>
          <a:noFill/>
          <a:ln/>
        </p:spPr>
        <p:txBody>
          <a:bodyPr wrap="square" lIns="0" tIns="0" rIns="0" bIns="0" rtlCol="0" anchor="ctr"/>
          <a:lstStyle/>
          <a:p>
            <a:pPr indent="0" marL="0">
              <a:buNone/>
            </a:pPr>
            <a:r>
              <a:rPr lang="en-US" sz="1500" dirty="0">
                <a:solidFill>
                  <a:srgbClr val="1F7A5F"/>
                </a:solidFill>
                <a:latin typeface="Calibri" pitchFamily="34" charset="0"/>
                <a:ea typeface="Calibri" pitchFamily="34" charset="-122"/>
                <a:cs typeface="Calibri" pitchFamily="34" charset="-120"/>
              </a:rPr>
              <a:t>eiro</a:t>
            </a:r>
            <a:endParaRPr lang="en-US" sz="1500" dirty="0"/>
          </a:p>
        </p:txBody>
      </p:sp>
      <p:sp>
        <p:nvSpPr>
          <p:cNvPr id="6" name="Text 4"/>
          <p:cNvSpPr/>
          <p:nvPr/>
        </p:nvSpPr>
        <p:spPr>
          <a:xfrm>
            <a:off x="822960" y="3063240"/>
            <a:ext cx="3017520" cy="640080"/>
          </a:xfrm>
          <a:prstGeom prst="rect">
            <a:avLst/>
          </a:prstGeom>
          <a:noFill/>
          <a:ln/>
        </p:spPr>
        <p:txBody>
          <a:bodyPr wrap="square" lIns="0" tIns="0" rIns="0" bIns="0" rtlCol="0" anchor="ctr"/>
          <a:lstStyle/>
          <a:p>
            <a:pPr indent="0" marL="0">
              <a:buNone/>
            </a:pPr>
            <a:r>
              <a:rPr lang="en-US" sz="1250" dirty="0">
                <a:solidFill>
                  <a:srgbClr val="6D645A"/>
                </a:solidFill>
                <a:latin typeface="Calibri" pitchFamily="34" charset="0"/>
                <a:ea typeface="Calibri" pitchFamily="34" charset="-122"/>
                <a:cs typeface="Calibri" pitchFamily="34" charset="-120"/>
              </a:rPr>
              <a:t>piešķirto līgumu kopvērtība analizētajā periodā</a:t>
            </a:r>
            <a:endParaRPr lang="en-US" sz="1250" dirty="0"/>
          </a:p>
        </p:txBody>
      </p:sp>
      <p:sp>
        <p:nvSpPr>
          <p:cNvPr id="7" name="Shape 5"/>
          <p:cNvSpPr/>
          <p:nvPr/>
        </p:nvSpPr>
        <p:spPr>
          <a:xfrm>
            <a:off x="4315968" y="1645920"/>
            <a:ext cx="3520440" cy="2286000"/>
          </a:xfrm>
          <a:prstGeom prst="roundRect">
            <a:avLst>
              <a:gd name="adj" fmla="val 4000"/>
            </a:avLst>
          </a:prstGeom>
          <a:solidFill>
            <a:srgbClr val="FFFFFF"/>
          </a:solidFill>
          <a:ln w="12700">
            <a:solidFill>
              <a:srgbClr val="E7DED0"/>
            </a:solidFill>
            <a:prstDash val="solid"/>
          </a:ln>
        </p:spPr>
      </p:sp>
      <p:sp>
        <p:nvSpPr>
          <p:cNvPr id="8" name="Text 6"/>
          <p:cNvSpPr/>
          <p:nvPr/>
        </p:nvSpPr>
        <p:spPr>
          <a:xfrm>
            <a:off x="4590288" y="1874520"/>
            <a:ext cx="3017520" cy="868680"/>
          </a:xfrm>
          <a:prstGeom prst="rect">
            <a:avLst/>
          </a:prstGeom>
          <a:noFill/>
          <a:ln/>
        </p:spPr>
        <p:txBody>
          <a:bodyPr wrap="square" lIns="0" tIns="0" rIns="0" bIns="0" rtlCol="0" anchor="ctr"/>
          <a:lstStyle/>
          <a:p>
            <a:pPr indent="0" marL="0">
              <a:buNone/>
            </a:pPr>
            <a:r>
              <a:rPr lang="en-US" sz="4000" b="1" dirty="0">
                <a:solidFill>
                  <a:srgbClr val="B23420"/>
                </a:solidFill>
                <a:latin typeface="Cambria" pitchFamily="34" charset="0"/>
                <a:ea typeface="Cambria" pitchFamily="34" charset="-122"/>
                <a:cs typeface="Cambria" pitchFamily="34" charset="-120"/>
              </a:rPr>
              <a:t>10–20 %</a:t>
            </a:r>
            <a:endParaRPr lang="en-US" sz="4000" dirty="0"/>
          </a:p>
        </p:txBody>
      </p:sp>
      <p:sp>
        <p:nvSpPr>
          <p:cNvPr id="9" name="Text 7"/>
          <p:cNvSpPr/>
          <p:nvPr/>
        </p:nvSpPr>
        <p:spPr>
          <a:xfrm>
            <a:off x="4590288" y="2697480"/>
            <a:ext cx="3017520" cy="320040"/>
          </a:xfrm>
          <a:prstGeom prst="rect">
            <a:avLst/>
          </a:prstGeom>
          <a:noFill/>
          <a:ln/>
        </p:spPr>
        <p:txBody>
          <a:bodyPr wrap="square" lIns="0" tIns="0" rIns="0" bIns="0" rtlCol="0" anchor="ctr"/>
          <a:lstStyle/>
          <a:p>
            <a:pPr indent="0" marL="0">
              <a:buNone/>
            </a:pPr>
            <a:r>
              <a:rPr lang="en-US" sz="1500" dirty="0">
                <a:solidFill>
                  <a:srgbClr val="1F7A5F"/>
                </a:solidFill>
                <a:latin typeface="Calibri" pitchFamily="34" charset="0"/>
                <a:ea typeface="Calibri" pitchFamily="34" charset="-122"/>
                <a:cs typeface="Calibri" pitchFamily="34" charset="-120"/>
              </a:rPr>
              <a:t>sadārdzinājums</a:t>
            </a:r>
            <a:endParaRPr lang="en-US" sz="1500" dirty="0"/>
          </a:p>
        </p:txBody>
      </p:sp>
      <p:sp>
        <p:nvSpPr>
          <p:cNvPr id="10" name="Text 8"/>
          <p:cNvSpPr/>
          <p:nvPr/>
        </p:nvSpPr>
        <p:spPr>
          <a:xfrm>
            <a:off x="4590288" y="3063240"/>
            <a:ext cx="3017520" cy="640080"/>
          </a:xfrm>
          <a:prstGeom prst="rect">
            <a:avLst/>
          </a:prstGeom>
          <a:noFill/>
          <a:ln/>
        </p:spPr>
        <p:txBody>
          <a:bodyPr wrap="square" lIns="0" tIns="0" rIns="0" bIns="0" rtlCol="0" anchor="ctr"/>
          <a:lstStyle/>
          <a:p>
            <a:pPr indent="0" marL="0">
              <a:buNone/>
            </a:pPr>
            <a:r>
              <a:rPr lang="en-US" sz="1250" dirty="0">
                <a:solidFill>
                  <a:srgbClr val="6D645A"/>
                </a:solidFill>
                <a:latin typeface="Calibri" pitchFamily="34" charset="0"/>
                <a:ea typeface="Calibri" pitchFamily="34" charset="-122"/>
                <a:cs typeface="Calibri" pitchFamily="34" charset="-120"/>
              </a:rPr>
              <a:t>starptautiskās aplēses par saskaņotas rīcības ietekmi</a:t>
            </a:r>
            <a:endParaRPr lang="en-US" sz="1250" dirty="0"/>
          </a:p>
        </p:txBody>
      </p:sp>
      <p:sp>
        <p:nvSpPr>
          <p:cNvPr id="11" name="Shape 9"/>
          <p:cNvSpPr/>
          <p:nvPr/>
        </p:nvSpPr>
        <p:spPr>
          <a:xfrm>
            <a:off x="8092440" y="1645920"/>
            <a:ext cx="3520440" cy="2286000"/>
          </a:xfrm>
          <a:prstGeom prst="roundRect">
            <a:avLst>
              <a:gd name="adj" fmla="val 4000"/>
            </a:avLst>
          </a:prstGeom>
          <a:solidFill>
            <a:srgbClr val="0E3B31"/>
          </a:solidFill>
          <a:ln w="12700">
            <a:solidFill>
              <a:srgbClr val="E7DED0"/>
            </a:solidFill>
            <a:prstDash val="solid"/>
          </a:ln>
        </p:spPr>
      </p:sp>
      <p:sp>
        <p:nvSpPr>
          <p:cNvPr id="12" name="Text 10"/>
          <p:cNvSpPr/>
          <p:nvPr/>
        </p:nvSpPr>
        <p:spPr>
          <a:xfrm>
            <a:off x="8366760" y="1874520"/>
            <a:ext cx="3017520" cy="8686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 60 milj.</a:t>
            </a:r>
            <a:endParaRPr lang="en-US" sz="3400" dirty="0"/>
          </a:p>
        </p:txBody>
      </p:sp>
      <p:sp>
        <p:nvSpPr>
          <p:cNvPr id="13" name="Text 11"/>
          <p:cNvSpPr/>
          <p:nvPr/>
        </p:nvSpPr>
        <p:spPr>
          <a:xfrm>
            <a:off x="8366760" y="2697480"/>
            <a:ext cx="3017520" cy="320040"/>
          </a:xfrm>
          <a:prstGeom prst="rect">
            <a:avLst/>
          </a:prstGeom>
          <a:noFill/>
          <a:ln/>
        </p:spPr>
        <p:txBody>
          <a:bodyPr wrap="square" lIns="0" tIns="0" rIns="0" bIns="0" rtlCol="0" anchor="ctr"/>
          <a:lstStyle/>
          <a:p>
            <a:pPr indent="0" marL="0">
              <a:buNone/>
            </a:pPr>
            <a:r>
              <a:rPr lang="en-US" sz="1500" dirty="0">
                <a:solidFill>
                  <a:srgbClr val="8FBFA6"/>
                </a:solidFill>
                <a:latin typeface="Calibri" pitchFamily="34" charset="0"/>
                <a:ea typeface="Calibri" pitchFamily="34" charset="-122"/>
                <a:cs typeface="Calibri" pitchFamily="34" charset="-120"/>
              </a:rPr>
              <a:t>eiro gadā</a:t>
            </a:r>
            <a:endParaRPr lang="en-US" sz="1500" dirty="0"/>
          </a:p>
        </p:txBody>
      </p:sp>
      <p:sp>
        <p:nvSpPr>
          <p:cNvPr id="14" name="Text 12"/>
          <p:cNvSpPr/>
          <p:nvPr/>
        </p:nvSpPr>
        <p:spPr>
          <a:xfrm>
            <a:off x="8366760" y="3063240"/>
            <a:ext cx="3017520" cy="640080"/>
          </a:xfrm>
          <a:prstGeom prst="rect">
            <a:avLst/>
          </a:prstGeom>
          <a:noFill/>
          <a:ln/>
        </p:spPr>
        <p:txBody>
          <a:bodyPr wrap="square" lIns="0" tIns="0" rIns="0" bIns="0" rtlCol="0" anchor="ctr"/>
          <a:lstStyle/>
          <a:p>
            <a:pPr indent="0" marL="0">
              <a:buNone/>
            </a:pPr>
            <a:r>
              <a:rPr lang="en-US" sz="1250" dirty="0">
                <a:solidFill>
                  <a:srgbClr val="9FB8AC"/>
                </a:solidFill>
                <a:latin typeface="Calibri" pitchFamily="34" charset="0"/>
                <a:ea typeface="Calibri" pitchFamily="34" charset="-122"/>
                <a:cs typeface="Calibri" pitchFamily="34" charset="-120"/>
              </a:rPr>
              <a:t>atbilst pat viena procenta uzlabojumam</a:t>
            </a:r>
            <a:endParaRPr lang="en-US" sz="1250" dirty="0"/>
          </a:p>
        </p:txBody>
      </p:sp>
      <p:sp>
        <p:nvSpPr>
          <p:cNvPr id="15" name="Text 13"/>
          <p:cNvSpPr/>
          <p:nvPr/>
        </p:nvSpPr>
        <p:spPr>
          <a:xfrm>
            <a:off x="548640" y="4343400"/>
            <a:ext cx="11064240" cy="1005840"/>
          </a:xfrm>
          <a:prstGeom prst="rect">
            <a:avLst/>
          </a:prstGeom>
          <a:noFill/>
          <a:ln/>
        </p:spPr>
        <p:txBody>
          <a:bodyPr wrap="square" rtlCol="0" anchor="ctr"/>
          <a:lstStyle/>
          <a:p>
            <a:pPr indent="0" marL="0">
              <a:lnSpc>
                <a:spcPts val="2600"/>
              </a:lnSpc>
              <a:buNone/>
            </a:pPr>
            <a:r>
              <a:rPr lang="en-US" sz="1700" dirty="0">
                <a:solidFill>
                  <a:srgbClr val="1B2A24"/>
                </a:solidFill>
                <a:latin typeface="Calibri" pitchFamily="34" charset="0"/>
                <a:ea typeface="Calibri" pitchFamily="34" charset="-122"/>
                <a:cs typeface="Calibri" pitchFamily="34" charset="-120"/>
              </a:rPr>
              <a:t>Ar esošajiem datiem var pateikt, kuros iepirkumos bija maz pretendentu.</a:t>
            </a:r>
            <a:endParaRPr lang="en-US" sz="1700" dirty="0"/>
          </a:p>
          <a:p>
            <a:pPr indent="0" marL="0">
              <a:lnSpc>
                <a:spcPts val="2600"/>
              </a:lnSpc>
              <a:buNone/>
            </a:pPr>
            <a:r>
              <a:rPr lang="en-US" sz="1700" dirty="0">
                <a:solidFill>
                  <a:srgbClr val="1B2A24"/>
                </a:solidFill>
                <a:latin typeface="Calibri" pitchFamily="34" charset="0"/>
                <a:ea typeface="Calibri" pitchFamily="34" charset="-122"/>
                <a:cs typeface="Calibri" pitchFamily="34" charset="-120"/>
              </a:rPr>
              <a:t>Nevar pateikt, kuros iepirkumos konkurence bija imitēta. Tieši pēdējais izmaksā visdārgāk.</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FE6"/>
        </a:solidFill>
      </p:bgPr>
    </p:bg>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000" b="1" dirty="0">
                <a:solidFill>
                  <a:srgbClr val="1B2A24"/>
                </a:solidFill>
                <a:latin typeface="Cambria" pitchFamily="34" charset="0"/>
                <a:ea typeface="Cambria" pitchFamily="34" charset="-122"/>
                <a:cs typeface="Cambria" pitchFamily="34" charset="-120"/>
              </a:rPr>
              <a:t>Ko šie dati jau šodien ļauj redzēt</a:t>
            </a:r>
            <a:endParaRPr lang="en-US" sz="3000" dirty="0"/>
          </a:p>
        </p:txBody>
      </p:sp>
      <p:sp>
        <p:nvSpPr>
          <p:cNvPr id="3" name="Text 1"/>
          <p:cNvSpPr/>
          <p:nvPr/>
        </p:nvSpPr>
        <p:spPr>
          <a:xfrm>
            <a:off x="548640" y="969264"/>
            <a:ext cx="11064240" cy="329184"/>
          </a:xfrm>
          <a:prstGeom prst="rect">
            <a:avLst/>
          </a:prstGeom>
          <a:noFill/>
          <a:ln/>
        </p:spPr>
        <p:txBody>
          <a:bodyPr wrap="square" lIns="0" tIns="0" rIns="0" bIns="0" rtlCol="0" anchor="ctr"/>
          <a:lstStyle/>
          <a:p>
            <a:pPr indent="0" marL="0">
              <a:buNone/>
            </a:pPr>
            <a:r>
              <a:rPr lang="en-US" sz="1400" dirty="0">
                <a:solidFill>
                  <a:srgbClr val="6D645A"/>
                </a:solidFill>
                <a:latin typeface="Calibri" pitchFamily="34" charset="0"/>
                <a:ea typeface="Calibri" pitchFamily="34" charset="-122"/>
                <a:cs typeface="Calibri" pitchFamily="34" charset="-120"/>
              </a:rPr>
              <a:t>Signāls nav pierādījums. Neviens uzņēmums šeit nav nosaukts.</a:t>
            </a:r>
            <a:endParaRPr lang="en-US" sz="1400" dirty="0"/>
          </a:p>
        </p:txBody>
      </p:sp>
      <p:sp>
        <p:nvSpPr>
          <p:cNvPr id="4" name="Shape 2"/>
          <p:cNvSpPr/>
          <p:nvPr/>
        </p:nvSpPr>
        <p:spPr>
          <a:xfrm>
            <a:off x="548640" y="1600200"/>
            <a:ext cx="11064240" cy="1965960"/>
          </a:xfrm>
          <a:prstGeom prst="roundRect">
            <a:avLst>
              <a:gd name="adj" fmla="val 4651"/>
            </a:avLst>
          </a:prstGeom>
          <a:solidFill>
            <a:srgbClr val="E3EFE9"/>
          </a:solidFill>
          <a:ln w="12700">
            <a:solidFill>
              <a:srgbClr val="E7DED0"/>
            </a:solidFill>
            <a:prstDash val="solid"/>
          </a:ln>
        </p:spPr>
      </p:sp>
      <p:sp>
        <p:nvSpPr>
          <p:cNvPr id="5" name="Text 3"/>
          <p:cNvSpPr/>
          <p:nvPr/>
        </p:nvSpPr>
        <p:spPr>
          <a:xfrm>
            <a:off x="868680" y="1783080"/>
            <a:ext cx="10424160" cy="548640"/>
          </a:xfrm>
          <a:prstGeom prst="rect">
            <a:avLst/>
          </a:prstGeom>
          <a:noFill/>
          <a:ln/>
        </p:spPr>
        <p:txBody>
          <a:bodyPr wrap="square" lIns="0" tIns="0" rIns="0" bIns="0" rtlCol="0" anchor="ctr"/>
          <a:lstStyle/>
          <a:p>
            <a:pPr indent="0" marL="0">
              <a:buNone/>
            </a:pPr>
            <a:r>
              <a:rPr lang="en-US" sz="3000" b="1" dirty="0">
                <a:solidFill>
                  <a:srgbClr val="B23420"/>
                </a:solidFill>
                <a:latin typeface="Cambria" pitchFamily="34" charset="0"/>
                <a:ea typeface="Cambria" pitchFamily="34" charset="-122"/>
                <a:cs typeface="Cambria" pitchFamily="34" charset="-120"/>
              </a:rPr>
              <a:t>397</a:t>
            </a:r>
            <a:pPr indent="0" marL="0">
              <a:buNone/>
            </a:pPr>
            <a:r>
              <a:rPr lang="en-US" sz="1600" dirty="0">
                <a:solidFill>
                  <a:srgbClr val="1B2A24"/>
                </a:solidFill>
                <a:latin typeface="Calibri" pitchFamily="34" charset="0"/>
                <a:ea typeface="Calibri" pitchFamily="34" charset="-122"/>
                <a:cs typeface="Calibri" pitchFamily="34" charset="-120"/>
              </a:rPr>
              <a:t>  iepirkumos (no 18 858) diviem konkurentiem ir </a:t>
            </a:r>
            <a:pPr indent="0" marL="0">
              <a:buNone/>
            </a:pPr>
            <a:r>
              <a:rPr lang="en-US" sz="1600" b="1" dirty="0">
                <a:solidFill>
                  <a:srgbClr val="1B2A24"/>
                </a:solidFill>
                <a:latin typeface="Calibri" pitchFamily="34" charset="0"/>
                <a:ea typeface="Calibri" pitchFamily="34" charset="-122"/>
                <a:cs typeface="Calibri" pitchFamily="34" charset="-120"/>
              </a:rPr>
              <a:t>kopīga fiziska persona</a:t>
            </a:r>
            <a:pPr indent="0" marL="0">
              <a:buNone/>
            </a:pPr>
            <a:r>
              <a:rPr lang="en-US" sz="1600" dirty="0">
                <a:solidFill>
                  <a:srgbClr val="1B2A24"/>
                </a:solidFill>
                <a:latin typeface="Calibri" pitchFamily="34" charset="0"/>
                <a:ea typeface="Calibri" pitchFamily="34" charset="-122"/>
                <a:cs typeface="Calibri" pitchFamily="34" charset="-120"/>
              </a:rPr>
              <a:t> — patiesā labuma guvējs vai valdes loceklis.</a:t>
            </a:r>
            <a:endParaRPr lang="en-US" sz="3000" dirty="0"/>
          </a:p>
        </p:txBody>
      </p:sp>
      <p:sp>
        <p:nvSpPr>
          <p:cNvPr id="6" name="Text 4"/>
          <p:cNvSpPr/>
          <p:nvPr/>
        </p:nvSpPr>
        <p:spPr>
          <a:xfrm>
            <a:off x="868680" y="2423160"/>
            <a:ext cx="10424160" cy="777240"/>
          </a:xfrm>
          <a:prstGeom prst="rect">
            <a:avLst/>
          </a:prstGeom>
          <a:noFill/>
          <a:ln/>
        </p:spPr>
        <p:txBody>
          <a:bodyPr wrap="square" lIns="0" tIns="0" rIns="0" bIns="0" rtlCol="0" anchor="t"/>
          <a:lstStyle/>
          <a:p>
            <a:pPr indent="0" marL="0">
              <a:lnSpc>
                <a:spcPts val="2000"/>
              </a:lnSpc>
              <a:buNone/>
            </a:pPr>
            <a:r>
              <a:rPr lang="en-US" sz="1450" dirty="0">
                <a:solidFill>
                  <a:srgbClr val="1B2A24"/>
                </a:solidFill>
                <a:latin typeface="Calibri" pitchFamily="34" charset="0"/>
                <a:ea typeface="Calibri" pitchFamily="34" charset="-122"/>
                <a:cs typeface="Calibri" pitchFamily="34" charset="-120"/>
              </a:rPr>
              <a:t>Permutāciju tests (200 nejaušas pārjaukšanas): nejauši sagaidāmi </a:t>
            </a:r>
            <a:pPr indent="0" marL="0">
              <a:lnSpc>
                <a:spcPts val="2000"/>
              </a:lnSpc>
              <a:buNone/>
            </a:pPr>
            <a:r>
              <a:rPr lang="en-US" sz="1450" b="1" dirty="0">
                <a:solidFill>
                  <a:srgbClr val="1B2A24"/>
                </a:solidFill>
                <a:latin typeface="Calibri" pitchFamily="34" charset="0"/>
                <a:ea typeface="Calibri" pitchFamily="34" charset="-122"/>
                <a:cs typeface="Calibri" pitchFamily="34" charset="-120"/>
              </a:rPr>
              <a:t>31</a:t>
            </a:r>
            <a:pPr indent="0" marL="0">
              <a:lnSpc>
                <a:spcPts val="2000"/>
              </a:lnSpc>
              <a:buNone/>
            </a:pPr>
            <a:r>
              <a:rPr lang="en-US" sz="1450" dirty="0">
                <a:solidFill>
                  <a:srgbClr val="1B2A24"/>
                </a:solidFill>
                <a:latin typeface="Calibri" pitchFamily="34" charset="0"/>
                <a:ea typeface="Calibri" pitchFamily="34" charset="-122"/>
                <a:cs typeface="Calibri" pitchFamily="34" charset="-120"/>
              </a:rPr>
              <a:t>. Novēroti </a:t>
            </a:r>
            <a:pPr indent="0" marL="0">
              <a:lnSpc>
                <a:spcPts val="2000"/>
              </a:lnSpc>
              <a:buNone/>
            </a:pPr>
            <a:r>
              <a:rPr lang="en-US" sz="1450" b="1" dirty="0">
                <a:solidFill>
                  <a:srgbClr val="B23420"/>
                </a:solidFill>
                <a:latin typeface="Calibri" pitchFamily="34" charset="0"/>
                <a:ea typeface="Calibri" pitchFamily="34" charset="-122"/>
                <a:cs typeface="Calibri" pitchFamily="34" charset="-120"/>
              </a:rPr>
              <a:t>397 — 12,8 reizes vairāk</a:t>
            </a:r>
            <a:pPr indent="0" marL="0">
              <a:lnSpc>
                <a:spcPts val="2000"/>
              </a:lnSpc>
              <a:buNone/>
            </a:pPr>
            <a:r>
              <a:rPr lang="en-US" sz="1450" dirty="0">
                <a:solidFill>
                  <a:srgbClr val="1B2A24"/>
                </a:solidFill>
                <a:latin typeface="Calibri" pitchFamily="34" charset="0"/>
                <a:ea typeface="Calibri" pitchFamily="34" charset="-122"/>
                <a:cs typeface="Calibri" pitchFamily="34" charset="-120"/>
              </a:rPr>
              <a:t>. Nevienā no 200 permutācijām rezultāts nesasniedza novēroto.</a:t>
            </a:r>
            <a:endParaRPr lang="en-US" sz="1450" dirty="0"/>
          </a:p>
        </p:txBody>
      </p:sp>
      <p:sp>
        <p:nvSpPr>
          <p:cNvPr id="7" name="Text 5"/>
          <p:cNvSpPr/>
          <p:nvPr/>
        </p:nvSpPr>
        <p:spPr>
          <a:xfrm>
            <a:off x="868680" y="3154680"/>
            <a:ext cx="10424160" cy="365760"/>
          </a:xfrm>
          <a:prstGeom prst="rect">
            <a:avLst/>
          </a:prstGeom>
          <a:noFill/>
          <a:ln/>
        </p:spPr>
        <p:txBody>
          <a:bodyPr wrap="square" lIns="0" tIns="0" rIns="0" bIns="0" rtlCol="0" anchor="ctr"/>
          <a:lstStyle/>
          <a:p>
            <a:pPr indent="0" marL="0">
              <a:buNone/>
            </a:pPr>
            <a:r>
              <a:rPr lang="en-US" sz="1250" i="1" dirty="0">
                <a:solidFill>
                  <a:srgbClr val="6D645A"/>
                </a:solidFill>
                <a:latin typeface="Calibri" pitchFamily="34" charset="0"/>
                <a:ea typeface="Calibri" pitchFamily="34" charset="-122"/>
                <a:cs typeface="Calibri" pitchFamily="34" charset="-120"/>
              </a:rPr>
              <a:t>Tas nav pārkāpuma pierādījums — ES Tiesa (Assitur, C-538/07) norāda, ka saistītu firmu dalība pati par sevi nav aizliegta. Tā ir norāde, kur meklēt.</a:t>
            </a:r>
            <a:endParaRPr lang="en-US" sz="1250" dirty="0"/>
          </a:p>
        </p:txBody>
      </p:sp>
      <p:sp>
        <p:nvSpPr>
          <p:cNvPr id="8" name="Shape 6"/>
          <p:cNvSpPr/>
          <p:nvPr/>
        </p:nvSpPr>
        <p:spPr>
          <a:xfrm>
            <a:off x="548640" y="3794760"/>
            <a:ext cx="5349240" cy="1005840"/>
          </a:xfrm>
          <a:prstGeom prst="roundRect">
            <a:avLst>
              <a:gd name="adj" fmla="val 9091"/>
            </a:avLst>
          </a:prstGeom>
          <a:solidFill>
            <a:srgbClr val="FFFFFF"/>
          </a:solidFill>
          <a:ln w="12700">
            <a:solidFill>
              <a:srgbClr val="E7DED0"/>
            </a:solidFill>
            <a:prstDash val="solid"/>
          </a:ln>
        </p:spPr>
      </p:sp>
      <p:sp>
        <p:nvSpPr>
          <p:cNvPr id="9" name="Text 7"/>
          <p:cNvSpPr/>
          <p:nvPr/>
        </p:nvSpPr>
        <p:spPr>
          <a:xfrm>
            <a:off x="822960" y="3904488"/>
            <a:ext cx="1828800" cy="411480"/>
          </a:xfrm>
          <a:prstGeom prst="rect">
            <a:avLst/>
          </a:prstGeom>
          <a:noFill/>
          <a:ln/>
        </p:spPr>
        <p:txBody>
          <a:bodyPr wrap="square" lIns="0" tIns="0" rIns="0" bIns="0" rtlCol="0" anchor="ctr"/>
          <a:lstStyle/>
          <a:p>
            <a:pPr indent="0" marL="0">
              <a:buNone/>
            </a:pPr>
            <a:r>
              <a:rPr lang="en-US" sz="1900" b="1" dirty="0">
                <a:solidFill>
                  <a:srgbClr val="1F7A5F"/>
                </a:solidFill>
                <a:latin typeface="Cambria" pitchFamily="34" charset="0"/>
                <a:ea typeface="Cambria" pitchFamily="34" charset="-122"/>
                <a:cs typeface="Cambria" pitchFamily="34" charset="-120"/>
              </a:rPr>
              <a:t>24,6 %</a:t>
            </a:r>
            <a:endParaRPr lang="en-US" sz="1900" dirty="0"/>
          </a:p>
        </p:txBody>
      </p:sp>
      <p:sp>
        <p:nvSpPr>
          <p:cNvPr id="10" name="Text 8"/>
          <p:cNvSpPr/>
          <p:nvPr/>
        </p:nvSpPr>
        <p:spPr>
          <a:xfrm>
            <a:off x="2697480" y="3886200"/>
            <a:ext cx="3017520" cy="822960"/>
          </a:xfrm>
          <a:prstGeom prst="rect">
            <a:avLst/>
          </a:prstGeom>
          <a:noFill/>
          <a:ln/>
        </p:spPr>
        <p:txBody>
          <a:bodyPr wrap="square" lIns="0" tIns="0" rIns="0" bIns="0" rtlCol="0" anchor="ctr"/>
          <a:lstStyle/>
          <a:p>
            <a:pPr indent="0" marL="0">
              <a:lnSpc>
                <a:spcPts val="1500"/>
              </a:lnSpc>
              <a:buNone/>
            </a:pPr>
            <a:r>
              <a:rPr lang="en-US" sz="1150" dirty="0">
                <a:solidFill>
                  <a:srgbClr val="1B2A24"/>
                </a:solidFill>
                <a:latin typeface="Calibri" pitchFamily="34" charset="0"/>
                <a:ea typeface="Calibri" pitchFamily="34" charset="-122"/>
                <a:cs typeface="Calibri" pitchFamily="34" charset="-120"/>
              </a:rPr>
              <a:t>viena pretendenta likme — sakrīt ar IUB oficiālo rādītāju (kalibrācija)</a:t>
            </a:r>
            <a:endParaRPr lang="en-US" sz="1150" dirty="0"/>
          </a:p>
        </p:txBody>
      </p:sp>
      <p:sp>
        <p:nvSpPr>
          <p:cNvPr id="11" name="Shape 9"/>
          <p:cNvSpPr/>
          <p:nvPr/>
        </p:nvSpPr>
        <p:spPr>
          <a:xfrm>
            <a:off x="6263640" y="3794760"/>
            <a:ext cx="5349240" cy="1005840"/>
          </a:xfrm>
          <a:prstGeom prst="roundRect">
            <a:avLst>
              <a:gd name="adj" fmla="val 9091"/>
            </a:avLst>
          </a:prstGeom>
          <a:solidFill>
            <a:srgbClr val="FFFFFF"/>
          </a:solidFill>
          <a:ln w="12700">
            <a:solidFill>
              <a:srgbClr val="E7DED0"/>
            </a:solidFill>
            <a:prstDash val="solid"/>
          </a:ln>
        </p:spPr>
      </p:sp>
      <p:sp>
        <p:nvSpPr>
          <p:cNvPr id="12" name="Text 10"/>
          <p:cNvSpPr/>
          <p:nvPr/>
        </p:nvSpPr>
        <p:spPr>
          <a:xfrm>
            <a:off x="6537960" y="3904488"/>
            <a:ext cx="1828800" cy="411480"/>
          </a:xfrm>
          <a:prstGeom prst="rect">
            <a:avLst/>
          </a:prstGeom>
          <a:noFill/>
          <a:ln/>
        </p:spPr>
        <p:txBody>
          <a:bodyPr wrap="square" lIns="0" tIns="0" rIns="0" bIns="0" rtlCol="0" anchor="ctr"/>
          <a:lstStyle/>
          <a:p>
            <a:pPr indent="0" marL="0">
              <a:buNone/>
            </a:pPr>
            <a:r>
              <a:rPr lang="en-US" sz="1900" b="1" dirty="0">
                <a:solidFill>
                  <a:srgbClr val="1F7A5F"/>
                </a:solidFill>
                <a:latin typeface="Cambria" pitchFamily="34" charset="0"/>
                <a:ea typeface="Cambria" pitchFamily="34" charset="-122"/>
                <a:cs typeface="Cambria" pitchFamily="34" charset="-120"/>
              </a:rPr>
              <a:t>63 / 61 / 57 %</a:t>
            </a:r>
            <a:endParaRPr lang="en-US" sz="1900" dirty="0"/>
          </a:p>
        </p:txBody>
      </p:sp>
      <p:sp>
        <p:nvSpPr>
          <p:cNvPr id="13" name="Text 11"/>
          <p:cNvSpPr/>
          <p:nvPr/>
        </p:nvSpPr>
        <p:spPr>
          <a:xfrm>
            <a:off x="8412480" y="3886200"/>
            <a:ext cx="3017520" cy="822960"/>
          </a:xfrm>
          <a:prstGeom prst="rect">
            <a:avLst/>
          </a:prstGeom>
          <a:noFill/>
          <a:ln/>
        </p:spPr>
        <p:txBody>
          <a:bodyPr wrap="square" lIns="0" tIns="0" rIns="0" bIns="0" rtlCol="0" anchor="ctr"/>
          <a:lstStyle/>
          <a:p>
            <a:pPr indent="0" marL="0">
              <a:lnSpc>
                <a:spcPts val="1500"/>
              </a:lnSpc>
              <a:buNone/>
            </a:pPr>
            <a:r>
              <a:rPr lang="en-US" sz="1150" dirty="0">
                <a:solidFill>
                  <a:srgbClr val="1B2A24"/>
                </a:solidFill>
                <a:latin typeface="Calibri" pitchFamily="34" charset="0"/>
                <a:ea typeface="Calibri" pitchFamily="34" charset="-122"/>
                <a:cs typeface="Calibri" pitchFamily="34" charset="-120"/>
              </a:rPr>
              <a:t>veselība · IT · programmatūra — pret nacionālo 24,6 %</a:t>
            </a:r>
            <a:endParaRPr lang="en-US" sz="1150" dirty="0"/>
          </a:p>
        </p:txBody>
      </p:sp>
      <p:sp>
        <p:nvSpPr>
          <p:cNvPr id="14" name="Shape 12"/>
          <p:cNvSpPr/>
          <p:nvPr/>
        </p:nvSpPr>
        <p:spPr>
          <a:xfrm>
            <a:off x="548640" y="4983480"/>
            <a:ext cx="5349240" cy="1005840"/>
          </a:xfrm>
          <a:prstGeom prst="roundRect">
            <a:avLst>
              <a:gd name="adj" fmla="val 9091"/>
            </a:avLst>
          </a:prstGeom>
          <a:solidFill>
            <a:srgbClr val="FFFFFF"/>
          </a:solidFill>
          <a:ln w="12700">
            <a:solidFill>
              <a:srgbClr val="E7DED0"/>
            </a:solidFill>
            <a:prstDash val="solid"/>
          </a:ln>
        </p:spPr>
      </p:sp>
      <p:sp>
        <p:nvSpPr>
          <p:cNvPr id="15" name="Text 13"/>
          <p:cNvSpPr/>
          <p:nvPr/>
        </p:nvSpPr>
        <p:spPr>
          <a:xfrm>
            <a:off x="822960" y="5093208"/>
            <a:ext cx="1828800" cy="411480"/>
          </a:xfrm>
          <a:prstGeom prst="rect">
            <a:avLst/>
          </a:prstGeom>
          <a:noFill/>
          <a:ln/>
        </p:spPr>
        <p:txBody>
          <a:bodyPr wrap="square" lIns="0" tIns="0" rIns="0" bIns="0" rtlCol="0" anchor="ctr"/>
          <a:lstStyle/>
          <a:p>
            <a:pPr indent="0" marL="0">
              <a:buNone/>
            </a:pPr>
            <a:r>
              <a:rPr lang="en-US" sz="1900" b="1" dirty="0">
                <a:solidFill>
                  <a:srgbClr val="1F7A5F"/>
                </a:solidFill>
                <a:latin typeface="Cambria" pitchFamily="34" charset="0"/>
                <a:ea typeface="Cambria" pitchFamily="34" charset="-122"/>
                <a:cs typeface="Cambria" pitchFamily="34" charset="-120"/>
              </a:rPr>
              <a:t>30</a:t>
            </a:r>
            <a:endParaRPr lang="en-US" sz="1900" dirty="0"/>
          </a:p>
        </p:txBody>
      </p:sp>
      <p:sp>
        <p:nvSpPr>
          <p:cNvPr id="16" name="Text 14"/>
          <p:cNvSpPr/>
          <p:nvPr/>
        </p:nvSpPr>
        <p:spPr>
          <a:xfrm>
            <a:off x="2697480" y="5074920"/>
            <a:ext cx="3017520" cy="822960"/>
          </a:xfrm>
          <a:prstGeom prst="rect">
            <a:avLst/>
          </a:prstGeom>
          <a:noFill/>
          <a:ln/>
        </p:spPr>
        <p:txBody>
          <a:bodyPr wrap="square" lIns="0" tIns="0" rIns="0" bIns="0" rtlCol="0" anchor="ctr"/>
          <a:lstStyle/>
          <a:p>
            <a:pPr indent="0" marL="0">
              <a:lnSpc>
                <a:spcPts val="1500"/>
              </a:lnSpc>
              <a:buNone/>
            </a:pPr>
            <a:r>
              <a:rPr lang="en-US" sz="1150" dirty="0">
                <a:solidFill>
                  <a:srgbClr val="1B2A24"/>
                </a:solidFill>
                <a:latin typeface="Calibri" pitchFamily="34" charset="0"/>
                <a:ea typeface="Calibri" pitchFamily="34" charset="-122"/>
                <a:cs typeface="Calibri" pitchFamily="34" charset="-120"/>
              </a:rPr>
              <a:t>pasūtītājiem viena pretendenta likme pārsniedz 50 %</a:t>
            </a:r>
            <a:endParaRPr lang="en-US" sz="1150" dirty="0"/>
          </a:p>
        </p:txBody>
      </p:sp>
      <p:sp>
        <p:nvSpPr>
          <p:cNvPr id="17" name="Shape 15"/>
          <p:cNvSpPr/>
          <p:nvPr/>
        </p:nvSpPr>
        <p:spPr>
          <a:xfrm>
            <a:off x="6263640" y="4983480"/>
            <a:ext cx="5349240" cy="1005840"/>
          </a:xfrm>
          <a:prstGeom prst="roundRect">
            <a:avLst>
              <a:gd name="adj" fmla="val 9091"/>
            </a:avLst>
          </a:prstGeom>
          <a:solidFill>
            <a:srgbClr val="FFFFFF"/>
          </a:solidFill>
          <a:ln w="12700">
            <a:solidFill>
              <a:srgbClr val="E7DED0"/>
            </a:solidFill>
            <a:prstDash val="solid"/>
          </a:ln>
        </p:spPr>
      </p:sp>
      <p:sp>
        <p:nvSpPr>
          <p:cNvPr id="18" name="Text 16"/>
          <p:cNvSpPr/>
          <p:nvPr/>
        </p:nvSpPr>
        <p:spPr>
          <a:xfrm>
            <a:off x="6537960" y="5093208"/>
            <a:ext cx="1828800" cy="411480"/>
          </a:xfrm>
          <a:prstGeom prst="rect">
            <a:avLst/>
          </a:prstGeom>
          <a:noFill/>
          <a:ln/>
        </p:spPr>
        <p:txBody>
          <a:bodyPr wrap="square" lIns="0" tIns="0" rIns="0" bIns="0" rtlCol="0" anchor="ctr"/>
          <a:lstStyle/>
          <a:p>
            <a:pPr indent="0" marL="0">
              <a:buNone/>
            </a:pPr>
            <a:r>
              <a:rPr lang="en-US" sz="1900" b="1" dirty="0">
                <a:solidFill>
                  <a:srgbClr val="1F7A5F"/>
                </a:solidFill>
                <a:latin typeface="Cambria" pitchFamily="34" charset="0"/>
                <a:ea typeface="Cambria" pitchFamily="34" charset="-122"/>
                <a:cs typeface="Cambria" pitchFamily="34" charset="-120"/>
              </a:rPr>
              <a:t>26</a:t>
            </a:r>
            <a:endParaRPr lang="en-US" sz="1900" dirty="0"/>
          </a:p>
        </p:txBody>
      </p:sp>
      <p:sp>
        <p:nvSpPr>
          <p:cNvPr id="19" name="Text 17"/>
          <p:cNvSpPr/>
          <p:nvPr/>
        </p:nvSpPr>
        <p:spPr>
          <a:xfrm>
            <a:off x="8412480" y="5074920"/>
            <a:ext cx="3017520" cy="822960"/>
          </a:xfrm>
          <a:prstGeom prst="rect">
            <a:avLst/>
          </a:prstGeom>
          <a:noFill/>
          <a:ln/>
        </p:spPr>
        <p:txBody>
          <a:bodyPr wrap="square" lIns="0" tIns="0" rIns="0" bIns="0" rtlCol="0" anchor="ctr"/>
          <a:lstStyle/>
          <a:p>
            <a:pPr indent="0" marL="0">
              <a:lnSpc>
                <a:spcPts val="1500"/>
              </a:lnSpc>
              <a:buNone/>
            </a:pPr>
            <a:r>
              <a:rPr lang="en-US" sz="1150" dirty="0">
                <a:solidFill>
                  <a:srgbClr val="1B2A24"/>
                </a:solidFill>
                <a:latin typeface="Calibri" pitchFamily="34" charset="0"/>
                <a:ea typeface="Calibri" pitchFamily="34" charset="-122"/>
                <a:cs typeface="Calibri" pitchFamily="34" charset="-120"/>
              </a:rPr>
              <a:t>pasūtītājiem vērtības sablīvējas tieši zem sliekšņa (nacionāli ~7 %)</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EFE6"/>
        </a:solidFill>
      </p:bgPr>
    </p:bg>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000" b="1" dirty="0">
                <a:solidFill>
                  <a:srgbClr val="1B2A24"/>
                </a:solidFill>
                <a:latin typeface="Cambria" pitchFamily="34" charset="0"/>
                <a:ea typeface="Cambria" pitchFamily="34" charset="-122"/>
                <a:cs typeface="Cambria" pitchFamily="34" charset="-120"/>
              </a:rPr>
              <a:t>Zināmais pretarguments — un atbilde uz to</a:t>
            </a:r>
            <a:endParaRPr lang="en-US" sz="3000" dirty="0"/>
          </a:p>
        </p:txBody>
      </p:sp>
      <p:sp>
        <p:nvSpPr>
          <p:cNvPr id="3" name="Shape 1"/>
          <p:cNvSpPr/>
          <p:nvPr/>
        </p:nvSpPr>
        <p:spPr>
          <a:xfrm>
            <a:off x="548640" y="1508760"/>
            <a:ext cx="11064240" cy="1051560"/>
          </a:xfrm>
          <a:prstGeom prst="roundRect">
            <a:avLst>
              <a:gd name="adj" fmla="val 8696"/>
            </a:avLst>
          </a:prstGeom>
          <a:solidFill>
            <a:srgbClr val="FBE2DD"/>
          </a:solidFill>
          <a:ln w="12700">
            <a:solidFill>
              <a:srgbClr val="E7DED0"/>
            </a:solidFill>
            <a:prstDash val="solid"/>
          </a:ln>
        </p:spPr>
      </p:sp>
      <p:sp>
        <p:nvSpPr>
          <p:cNvPr id="4" name="Text 2"/>
          <p:cNvSpPr/>
          <p:nvPr/>
        </p:nvSpPr>
        <p:spPr>
          <a:xfrm>
            <a:off x="868680" y="1645920"/>
            <a:ext cx="10424160" cy="777240"/>
          </a:xfrm>
          <a:prstGeom prst="rect">
            <a:avLst/>
          </a:prstGeom>
          <a:noFill/>
          <a:ln/>
        </p:spPr>
        <p:txBody>
          <a:bodyPr wrap="square" lIns="0" tIns="0" rIns="0" bIns="0" rtlCol="0" anchor="ctr"/>
          <a:lstStyle/>
          <a:p>
            <a:pPr indent="0" marL="0">
              <a:lnSpc>
                <a:spcPts val="2100"/>
              </a:lnSpc>
              <a:buNone/>
            </a:pPr>
            <a:r>
              <a:rPr lang="en-US" sz="1500" b="1" dirty="0">
                <a:solidFill>
                  <a:srgbClr val="B23420"/>
                </a:solidFill>
                <a:latin typeface="Calibri" pitchFamily="34" charset="0"/>
                <a:ea typeface="Calibri" pitchFamily="34" charset="-122"/>
                <a:cs typeface="Calibri" pitchFamily="34" charset="-120"/>
              </a:rPr>
              <a:t>Iebildums: </a:t>
            </a:r>
            <a:pPr indent="0" marL="0">
              <a:lnSpc>
                <a:spcPts val="2100"/>
              </a:lnSpc>
              <a:buNone/>
            </a:pPr>
            <a:r>
              <a:rPr lang="en-US" sz="1500" dirty="0">
                <a:solidFill>
                  <a:srgbClr val="1B2A24"/>
                </a:solidFill>
                <a:latin typeface="Calibri" pitchFamily="34" charset="0"/>
                <a:ea typeface="Calibri" pitchFamily="34" charset="-122"/>
                <a:cs typeface="Calibri" pitchFamily="34" charset="-120"/>
              </a:rPr>
              <a:t>cenu publiskošana var atvieglot karteļa darbību — dalībnieki iegūst līdzekli, ar ko pārbaudīt vienošanās ievērošanu.</a:t>
            </a:r>
            <a:endParaRPr lang="en-US" sz="1500" dirty="0"/>
          </a:p>
        </p:txBody>
      </p:sp>
      <p:sp>
        <p:nvSpPr>
          <p:cNvPr id="5" name="Shape 3"/>
          <p:cNvSpPr/>
          <p:nvPr/>
        </p:nvSpPr>
        <p:spPr>
          <a:xfrm>
            <a:off x="548640" y="2743200"/>
            <a:ext cx="11064240" cy="1234440"/>
          </a:xfrm>
          <a:prstGeom prst="roundRect">
            <a:avLst>
              <a:gd name="adj" fmla="val 7407"/>
            </a:avLst>
          </a:prstGeom>
          <a:solidFill>
            <a:srgbClr val="E3EFE9"/>
          </a:solidFill>
          <a:ln w="12700">
            <a:solidFill>
              <a:srgbClr val="E7DED0"/>
            </a:solidFill>
            <a:prstDash val="solid"/>
          </a:ln>
        </p:spPr>
      </p:sp>
      <p:sp>
        <p:nvSpPr>
          <p:cNvPr id="6" name="Text 4"/>
          <p:cNvSpPr/>
          <p:nvPr/>
        </p:nvSpPr>
        <p:spPr>
          <a:xfrm>
            <a:off x="868680" y="2880360"/>
            <a:ext cx="10424160" cy="960120"/>
          </a:xfrm>
          <a:prstGeom prst="rect">
            <a:avLst/>
          </a:prstGeom>
          <a:noFill/>
          <a:ln/>
        </p:spPr>
        <p:txBody>
          <a:bodyPr wrap="square" lIns="0" tIns="0" rIns="0" bIns="0" rtlCol="0" anchor="ctr"/>
          <a:lstStyle/>
          <a:p>
            <a:pPr indent="0" marL="0">
              <a:lnSpc>
                <a:spcPts val="2000"/>
              </a:lnSpc>
              <a:buNone/>
            </a:pPr>
            <a:r>
              <a:rPr lang="en-US" sz="1450" b="1" dirty="0">
                <a:solidFill>
                  <a:srgbClr val="0E3B31"/>
                </a:solidFill>
                <a:latin typeface="Calibri" pitchFamily="34" charset="0"/>
                <a:ea typeface="Calibri" pitchFamily="34" charset="-122"/>
                <a:cs typeface="Calibri" pitchFamily="34" charset="-120"/>
              </a:rPr>
              <a:t>Atbilde: šajā gadījumā iebildums lielā mērā atkrīt. </a:t>
            </a:r>
            <a:pPr indent="0" marL="0">
              <a:lnSpc>
                <a:spcPts val="2000"/>
              </a:lnSpc>
              <a:buNone/>
            </a:pPr>
            <a:r>
              <a:rPr lang="en-US" sz="1450" dirty="0">
                <a:solidFill>
                  <a:srgbClr val="1B2A24"/>
                </a:solidFill>
                <a:latin typeface="Calibri" pitchFamily="34" charset="0"/>
                <a:ea typeface="Calibri" pitchFamily="34" charset="-122"/>
                <a:cs typeface="Calibri" pitchFamily="34" charset="-120"/>
              </a:rPr>
              <a:t>Cenas jau tagad tiek nosauktas piedāvājumu atvēršanā, kurā pretendenti piedalās, un ir atrodamas protokolos. Karteļa dalībniekiem šī informācija ir pieejama jau šodien — strukturēts formāts tiem nedod neko jaunu, taču būtiski maina iespējas uzraugiem un sabiedrībai.</a:t>
            </a:r>
            <a:endParaRPr lang="en-US" sz="1450" dirty="0"/>
          </a:p>
        </p:txBody>
      </p:sp>
      <p:sp>
        <p:nvSpPr>
          <p:cNvPr id="7" name="Text 5"/>
          <p:cNvSpPr/>
          <p:nvPr/>
        </p:nvSpPr>
        <p:spPr>
          <a:xfrm>
            <a:off x="548640" y="4206240"/>
            <a:ext cx="5486400" cy="320040"/>
          </a:xfrm>
          <a:prstGeom prst="rect">
            <a:avLst/>
          </a:prstGeom>
          <a:noFill/>
          <a:ln/>
        </p:spPr>
        <p:txBody>
          <a:bodyPr wrap="square" rtlCol="0" anchor="ctr"/>
          <a:lstStyle/>
          <a:p>
            <a:pPr indent="0" marL="0">
              <a:buNone/>
            </a:pPr>
            <a:r>
              <a:rPr lang="en-US" sz="1400" b="1" dirty="0">
                <a:solidFill>
                  <a:srgbClr val="6D645A"/>
                </a:solidFill>
                <a:latin typeface="Calibri" pitchFamily="34" charset="0"/>
                <a:ea typeface="Calibri" pitchFamily="34" charset="-122"/>
                <a:cs typeface="Calibri" pitchFamily="34" charset="-120"/>
              </a:rPr>
              <a:t>Trīs varianti prioritārā secībā:</a:t>
            </a:r>
            <a:endParaRPr lang="en-US" sz="1400" dirty="0"/>
          </a:p>
        </p:txBody>
      </p:sp>
      <p:sp>
        <p:nvSpPr>
          <p:cNvPr id="8" name="Shape 6"/>
          <p:cNvSpPr/>
          <p:nvPr/>
        </p:nvSpPr>
        <p:spPr>
          <a:xfrm>
            <a:off x="548640" y="4572000"/>
            <a:ext cx="3520440" cy="1508760"/>
          </a:xfrm>
          <a:prstGeom prst="roundRect">
            <a:avLst>
              <a:gd name="adj" fmla="val 6061"/>
            </a:avLst>
          </a:prstGeom>
          <a:solidFill>
            <a:srgbClr val="FFFFFF"/>
          </a:solidFill>
          <a:ln w="12700">
            <a:solidFill>
              <a:srgbClr val="E7DED0"/>
            </a:solidFill>
            <a:prstDash val="solid"/>
          </a:ln>
        </p:spPr>
      </p:sp>
      <p:sp>
        <p:nvSpPr>
          <p:cNvPr id="9" name="Shape 7"/>
          <p:cNvSpPr/>
          <p:nvPr/>
        </p:nvSpPr>
        <p:spPr>
          <a:xfrm>
            <a:off x="804672" y="4773168"/>
            <a:ext cx="347472" cy="347472"/>
          </a:xfrm>
          <a:prstGeom prst="ellipse">
            <a:avLst/>
          </a:prstGeom>
          <a:solidFill>
            <a:srgbClr val="1F7A5F"/>
          </a:solidFill>
          <a:ln w="12700">
            <a:solidFill>
              <a:srgbClr val="1F7A5F"/>
            </a:solidFill>
            <a:prstDash val="solid"/>
          </a:ln>
        </p:spPr>
      </p:sp>
      <p:sp>
        <p:nvSpPr>
          <p:cNvPr id="10" name="Text 8"/>
          <p:cNvSpPr/>
          <p:nvPr/>
        </p:nvSpPr>
        <p:spPr>
          <a:xfrm>
            <a:off x="804672" y="477316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9"/>
          <p:cNvSpPr/>
          <p:nvPr/>
        </p:nvSpPr>
        <p:spPr>
          <a:xfrm>
            <a:off x="1261872" y="4773168"/>
            <a:ext cx="2560320" cy="347472"/>
          </a:xfrm>
          <a:prstGeom prst="rect">
            <a:avLst/>
          </a:prstGeom>
          <a:noFill/>
          <a:ln/>
        </p:spPr>
        <p:txBody>
          <a:bodyPr wrap="square" lIns="0" tIns="0" rIns="0" bIns="0" rtlCol="0" anchor="ctr"/>
          <a:lstStyle/>
          <a:p>
            <a:pPr indent="0" marL="0">
              <a:buNone/>
            </a:pPr>
            <a:r>
              <a:rPr lang="en-US" sz="1250" b="1" dirty="0">
                <a:solidFill>
                  <a:srgbClr val="0E3B31"/>
                </a:solidFill>
                <a:latin typeface="Calibri" pitchFamily="34" charset="0"/>
                <a:ea typeface="Calibri" pitchFamily="34" charset="-122"/>
                <a:cs typeface="Calibri" pitchFamily="34" charset="-120"/>
              </a:rPr>
              <a:t>Ieteicamais</a:t>
            </a:r>
            <a:endParaRPr lang="en-US" sz="1250" dirty="0"/>
          </a:p>
        </p:txBody>
      </p:sp>
      <p:sp>
        <p:nvSpPr>
          <p:cNvPr id="12" name="Text 10"/>
          <p:cNvSpPr/>
          <p:nvPr/>
        </p:nvSpPr>
        <p:spPr>
          <a:xfrm>
            <a:off x="804672" y="5193792"/>
            <a:ext cx="3017520" cy="777240"/>
          </a:xfrm>
          <a:prstGeom prst="rect">
            <a:avLst/>
          </a:prstGeom>
          <a:noFill/>
          <a:ln/>
        </p:spPr>
        <p:txBody>
          <a:bodyPr wrap="square" lIns="0" tIns="0" rIns="0" bIns="0" rtlCol="0" anchor="ctr"/>
          <a:lstStyle/>
          <a:p>
            <a:pPr indent="0" marL="0">
              <a:lnSpc>
                <a:spcPts val="1600"/>
              </a:lnSpc>
              <a:buNone/>
            </a:pPr>
            <a:r>
              <a:rPr lang="en-US" sz="1250" dirty="0">
                <a:solidFill>
                  <a:srgbClr val="1B2A24"/>
                </a:solidFill>
                <a:latin typeface="Calibri" pitchFamily="34" charset="0"/>
                <a:ea typeface="Calibri" pitchFamily="34" charset="-122"/>
                <a:cs typeface="Calibri" pitchFamily="34" charset="-120"/>
              </a:rPr>
              <a:t>Publicēt kopējās cenas mašīnlasāmi pēc līguma noslēgšanas.</a:t>
            </a:r>
            <a:endParaRPr lang="en-US" sz="1250" dirty="0"/>
          </a:p>
        </p:txBody>
      </p:sp>
      <p:sp>
        <p:nvSpPr>
          <p:cNvPr id="13" name="Shape 11"/>
          <p:cNvSpPr/>
          <p:nvPr/>
        </p:nvSpPr>
        <p:spPr>
          <a:xfrm>
            <a:off x="4325112" y="4572000"/>
            <a:ext cx="3520440" cy="1508760"/>
          </a:xfrm>
          <a:prstGeom prst="roundRect">
            <a:avLst>
              <a:gd name="adj" fmla="val 6061"/>
            </a:avLst>
          </a:prstGeom>
          <a:solidFill>
            <a:srgbClr val="FFFFFF"/>
          </a:solidFill>
          <a:ln w="12700">
            <a:solidFill>
              <a:srgbClr val="E7DED0"/>
            </a:solidFill>
            <a:prstDash val="solid"/>
          </a:ln>
        </p:spPr>
      </p:sp>
      <p:sp>
        <p:nvSpPr>
          <p:cNvPr id="14" name="Shape 12"/>
          <p:cNvSpPr/>
          <p:nvPr/>
        </p:nvSpPr>
        <p:spPr>
          <a:xfrm>
            <a:off x="4581144" y="4773168"/>
            <a:ext cx="347472" cy="347472"/>
          </a:xfrm>
          <a:prstGeom prst="ellipse">
            <a:avLst/>
          </a:prstGeom>
          <a:solidFill>
            <a:srgbClr val="0E3B31"/>
          </a:solidFill>
          <a:ln w="12700">
            <a:solidFill>
              <a:srgbClr val="0E3B31"/>
            </a:solidFill>
            <a:prstDash val="solid"/>
          </a:ln>
        </p:spPr>
      </p:sp>
      <p:sp>
        <p:nvSpPr>
          <p:cNvPr id="15" name="Text 13"/>
          <p:cNvSpPr/>
          <p:nvPr/>
        </p:nvSpPr>
        <p:spPr>
          <a:xfrm>
            <a:off x="4581144" y="477316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4"/>
          <p:cNvSpPr/>
          <p:nvPr/>
        </p:nvSpPr>
        <p:spPr>
          <a:xfrm>
            <a:off x="5038344" y="4773168"/>
            <a:ext cx="2560320" cy="347472"/>
          </a:xfrm>
          <a:prstGeom prst="rect">
            <a:avLst/>
          </a:prstGeom>
          <a:noFill/>
          <a:ln/>
        </p:spPr>
        <p:txBody>
          <a:bodyPr wrap="square" lIns="0" tIns="0" rIns="0" bIns="0" rtlCol="0" anchor="ctr"/>
          <a:lstStyle/>
          <a:p>
            <a:pPr indent="0" marL="0">
              <a:buNone/>
            </a:pPr>
            <a:r>
              <a:rPr lang="en-US" sz="1250" b="1" dirty="0">
                <a:solidFill>
                  <a:srgbClr val="0E3B31"/>
                </a:solidFill>
                <a:latin typeface="Calibri" pitchFamily="34" charset="0"/>
                <a:ea typeface="Calibri" pitchFamily="34" charset="-122"/>
                <a:cs typeface="Calibri" pitchFamily="34" charset="-120"/>
              </a:rPr>
              <a:t>Kompromiss A</a:t>
            </a:r>
            <a:endParaRPr lang="en-US" sz="1250" dirty="0"/>
          </a:p>
        </p:txBody>
      </p:sp>
      <p:sp>
        <p:nvSpPr>
          <p:cNvPr id="17" name="Text 15"/>
          <p:cNvSpPr/>
          <p:nvPr/>
        </p:nvSpPr>
        <p:spPr>
          <a:xfrm>
            <a:off x="4581144" y="5193792"/>
            <a:ext cx="3017520" cy="777240"/>
          </a:xfrm>
          <a:prstGeom prst="rect">
            <a:avLst/>
          </a:prstGeom>
          <a:noFill/>
          <a:ln/>
        </p:spPr>
        <p:txBody>
          <a:bodyPr wrap="square" lIns="0" tIns="0" rIns="0" bIns="0" rtlCol="0" anchor="ctr"/>
          <a:lstStyle/>
          <a:p>
            <a:pPr indent="0" marL="0">
              <a:lnSpc>
                <a:spcPts val="1600"/>
              </a:lnSpc>
              <a:buNone/>
            </a:pPr>
            <a:r>
              <a:rPr lang="en-US" sz="1250" dirty="0">
                <a:solidFill>
                  <a:srgbClr val="1B2A24"/>
                </a:solidFill>
                <a:latin typeface="Calibri" pitchFamily="34" charset="0"/>
                <a:ea typeface="Calibri" pitchFamily="34" charset="-122"/>
                <a:cs typeface="Calibri" pitchFamily="34" charset="-120"/>
              </a:rPr>
              <a:t>Publicēt anonimizēti — cenu sadalījumu bez nosaukumiem.</a:t>
            </a:r>
            <a:endParaRPr lang="en-US" sz="1250" dirty="0"/>
          </a:p>
        </p:txBody>
      </p:sp>
      <p:sp>
        <p:nvSpPr>
          <p:cNvPr id="18" name="Shape 16"/>
          <p:cNvSpPr/>
          <p:nvPr/>
        </p:nvSpPr>
        <p:spPr>
          <a:xfrm>
            <a:off x="8101584" y="4572000"/>
            <a:ext cx="3520440" cy="1508760"/>
          </a:xfrm>
          <a:prstGeom prst="roundRect">
            <a:avLst>
              <a:gd name="adj" fmla="val 6061"/>
            </a:avLst>
          </a:prstGeom>
          <a:solidFill>
            <a:srgbClr val="FFFFFF"/>
          </a:solidFill>
          <a:ln w="12700">
            <a:solidFill>
              <a:srgbClr val="E7DED0"/>
            </a:solidFill>
            <a:prstDash val="solid"/>
          </a:ln>
        </p:spPr>
      </p:sp>
      <p:sp>
        <p:nvSpPr>
          <p:cNvPr id="19" name="Shape 17"/>
          <p:cNvSpPr/>
          <p:nvPr/>
        </p:nvSpPr>
        <p:spPr>
          <a:xfrm>
            <a:off x="8357616" y="4773168"/>
            <a:ext cx="347472" cy="347472"/>
          </a:xfrm>
          <a:prstGeom prst="ellipse">
            <a:avLst/>
          </a:prstGeom>
          <a:solidFill>
            <a:srgbClr val="0E3B31"/>
          </a:solidFill>
          <a:ln w="12700">
            <a:solidFill>
              <a:srgbClr val="0E3B31"/>
            </a:solidFill>
            <a:prstDash val="solid"/>
          </a:ln>
        </p:spPr>
      </p:sp>
      <p:sp>
        <p:nvSpPr>
          <p:cNvPr id="20" name="Text 18"/>
          <p:cNvSpPr/>
          <p:nvPr/>
        </p:nvSpPr>
        <p:spPr>
          <a:xfrm>
            <a:off x="8357616" y="477316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1" name="Text 19"/>
          <p:cNvSpPr/>
          <p:nvPr/>
        </p:nvSpPr>
        <p:spPr>
          <a:xfrm>
            <a:off x="8814816" y="4773168"/>
            <a:ext cx="2560320" cy="347472"/>
          </a:xfrm>
          <a:prstGeom prst="rect">
            <a:avLst/>
          </a:prstGeom>
          <a:noFill/>
          <a:ln/>
        </p:spPr>
        <p:txBody>
          <a:bodyPr wrap="square" lIns="0" tIns="0" rIns="0" bIns="0" rtlCol="0" anchor="ctr"/>
          <a:lstStyle/>
          <a:p>
            <a:pPr indent="0" marL="0">
              <a:buNone/>
            </a:pPr>
            <a:r>
              <a:rPr lang="en-US" sz="1250" b="1" dirty="0">
                <a:solidFill>
                  <a:srgbClr val="0E3B31"/>
                </a:solidFill>
                <a:latin typeface="Calibri" pitchFamily="34" charset="0"/>
                <a:ea typeface="Calibri" pitchFamily="34" charset="-122"/>
                <a:cs typeface="Calibri" pitchFamily="34" charset="-120"/>
              </a:rPr>
              <a:t>Kompromiss B</a:t>
            </a:r>
            <a:endParaRPr lang="en-US" sz="1250" dirty="0"/>
          </a:p>
        </p:txBody>
      </p:sp>
      <p:sp>
        <p:nvSpPr>
          <p:cNvPr id="22" name="Text 20"/>
          <p:cNvSpPr/>
          <p:nvPr/>
        </p:nvSpPr>
        <p:spPr>
          <a:xfrm>
            <a:off x="8357616" y="5193792"/>
            <a:ext cx="3017520" cy="777240"/>
          </a:xfrm>
          <a:prstGeom prst="rect">
            <a:avLst/>
          </a:prstGeom>
          <a:noFill/>
          <a:ln/>
        </p:spPr>
        <p:txBody>
          <a:bodyPr wrap="square" lIns="0" tIns="0" rIns="0" bIns="0" rtlCol="0" anchor="ctr"/>
          <a:lstStyle/>
          <a:p>
            <a:pPr indent="0" marL="0">
              <a:lnSpc>
                <a:spcPts val="1600"/>
              </a:lnSpc>
              <a:buNone/>
            </a:pPr>
            <a:r>
              <a:rPr lang="en-US" sz="1250" dirty="0">
                <a:solidFill>
                  <a:srgbClr val="1B2A24"/>
                </a:solidFill>
                <a:latin typeface="Calibri" pitchFamily="34" charset="0"/>
                <a:ea typeface="Calibri" pitchFamily="34" charset="-122"/>
                <a:cs typeface="Calibri" pitchFamily="34" charset="-120"/>
              </a:rPr>
              <a:t>Nepublicēt, bet pārbaudes regulāri veic IUB vai KP.</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EFE6"/>
        </a:solidFill>
      </p:bgPr>
    </p:bg>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000" b="1" dirty="0">
                <a:solidFill>
                  <a:srgbClr val="1B2A24"/>
                </a:solidFill>
                <a:latin typeface="Cambria" pitchFamily="34" charset="0"/>
                <a:ea typeface="Cambria" pitchFamily="34" charset="-122"/>
                <a:cs typeface="Cambria" pitchFamily="34" charset="-120"/>
              </a:rPr>
              <a:t>Datu kvalitāte — piedāvāts kā ieguldījums</a:t>
            </a:r>
            <a:endParaRPr lang="en-US" sz="3000" dirty="0"/>
          </a:p>
        </p:txBody>
      </p:sp>
      <p:sp>
        <p:nvSpPr>
          <p:cNvPr id="3" name="Text 1"/>
          <p:cNvSpPr/>
          <p:nvPr/>
        </p:nvSpPr>
        <p:spPr>
          <a:xfrm>
            <a:off x="548640" y="969264"/>
            <a:ext cx="11064240" cy="329184"/>
          </a:xfrm>
          <a:prstGeom prst="rect">
            <a:avLst/>
          </a:prstGeom>
          <a:noFill/>
          <a:ln/>
        </p:spPr>
        <p:txBody>
          <a:bodyPr wrap="square" lIns="0" tIns="0" rIns="0" bIns="0" rtlCol="0" anchor="ctr"/>
          <a:lstStyle/>
          <a:p>
            <a:pPr indent="0" marL="0">
              <a:buNone/>
            </a:pPr>
            <a:r>
              <a:rPr lang="en-US" sz="1400" dirty="0">
                <a:solidFill>
                  <a:srgbClr val="6D645A"/>
                </a:solidFill>
                <a:latin typeface="Calibri" pitchFamily="34" charset="0"/>
                <a:ea typeface="Calibri" pitchFamily="34" charset="-122"/>
                <a:cs typeface="Calibri" pitchFamily="34" charset="-120"/>
              </a:rPr>
              <a:t>Attiecas tikai uz līgumiem, kuros izraudzīts uzvarētājs (22 277). Pārtrauktie iepirkumi nav ieskaitīti.</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4206240"/>
                <a:gridCol w="2103120"/>
                <a:gridCol w="4754880"/>
              </a:tblGrid>
              <a:tr h="402336">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Kas trūkst</a:t>
                      </a:r>
                      <a:endParaRPr lang="en-US" sz="1350" dirty="0">
                        <a:latin typeface="Calibri" charset="0"/>
                        <a:ea typeface="Calibri" charset="0"/>
                        <a:cs typeface="Calibri" charset="0"/>
                      </a:endParaRPr>
                    </a:p>
                  </a:txBody>
                  <a:tcPr marL="91440" marR="91440" marT="45720" marB="45720" anchor="ctr">
                    <a:lnL w="12700" cap="flat" cmpd="sng" algn="ctr">
                      <a:solidFill>
                        <a:srgbClr val="E7DED0"/>
                      </a:solidFill>
                      <a:prstDash val="solid"/>
                      <a:round/>
                      <a:headEnd type="none" w="med" len="med"/>
                      <a:tailEnd type="none" w="med" len="med"/>
                    </a:lnL>
                    <a:lnR w="12700" cap="flat" cmpd="sng" algn="ctr">
                      <a:solidFill>
                        <a:srgbClr val="E7DED0"/>
                      </a:solidFill>
                      <a:prstDash val="solid"/>
                      <a:round/>
                      <a:headEnd type="none" w="med" len="med"/>
                      <a:tailEnd type="none" w="med" len="med"/>
                    </a:lnR>
                    <a:lnT w="12700" cap="flat" cmpd="sng" algn="ctr">
                      <a:solidFill>
                        <a:srgbClr val="E7DED0"/>
                      </a:solidFill>
                      <a:prstDash val="solid"/>
                      <a:round/>
                      <a:headEnd type="none" w="med" len="med"/>
                      <a:tailEnd type="none" w="med" len="med"/>
                    </a:lnT>
                    <a:lnB w="12700" cap="flat" cmpd="sng" algn="ctr">
                      <a:solidFill>
                        <a:srgbClr val="E7DED0"/>
                      </a:solidFill>
                      <a:prstDash val="solid"/>
                      <a:round/>
                      <a:headEnd type="none" w="med" len="med"/>
                      <a:tailEnd type="none" w="med" len="med"/>
                    </a:lnB>
                    <a:solidFill>
                      <a:srgbClr val="0E3B31"/>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Cik</a:t>
                      </a:r>
                      <a:endParaRPr lang="en-US" sz="1350" dirty="0">
                        <a:latin typeface="Calibri" charset="0"/>
                        <a:ea typeface="Calibri" charset="0"/>
                        <a:cs typeface="Calibri" charset="0"/>
                      </a:endParaRPr>
                    </a:p>
                  </a:txBody>
                  <a:tcPr marL="91440" marR="91440" marT="45720" marB="45720" anchor="ctr">
                    <a:lnL w="12700" cap="flat" cmpd="sng" algn="ctr">
                      <a:solidFill>
                        <a:srgbClr val="E7DED0"/>
                      </a:solidFill>
                      <a:prstDash val="solid"/>
                      <a:round/>
                      <a:headEnd type="none" w="med" len="med"/>
                      <a:tailEnd type="none" w="med" len="med"/>
                    </a:lnL>
                    <a:lnR w="12700" cap="flat" cmpd="sng" algn="ctr">
                      <a:solidFill>
                        <a:srgbClr val="E7DED0"/>
                      </a:solidFill>
                      <a:prstDash val="solid"/>
                      <a:round/>
                      <a:headEnd type="none" w="med" len="med"/>
                      <a:tailEnd type="none" w="med" len="med"/>
                    </a:lnR>
                    <a:lnT w="12700" cap="flat" cmpd="sng" algn="ctr">
                      <a:solidFill>
                        <a:srgbClr val="E7DED0"/>
                      </a:solidFill>
                      <a:prstDash val="solid"/>
                      <a:round/>
                      <a:headEnd type="none" w="med" len="med"/>
                      <a:tailEnd type="none" w="med" len="med"/>
                    </a:lnT>
                    <a:lnB w="12700" cap="flat" cmpd="sng" algn="ctr">
                      <a:solidFill>
                        <a:srgbClr val="E7DED0"/>
                      </a:solidFill>
                      <a:prstDash val="solid"/>
                      <a:round/>
                      <a:headEnd type="none" w="med" len="med"/>
                      <a:tailEnd type="none" w="med" len="med"/>
                    </a:lnB>
                    <a:solidFill>
                      <a:srgbClr val="0E3B31"/>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Kas nav iespējams</a:t>
                      </a:r>
                      <a:endParaRPr lang="en-US" sz="1350" dirty="0">
                        <a:latin typeface="Calibri" charset="0"/>
                        <a:ea typeface="Calibri" charset="0"/>
                        <a:cs typeface="Calibri" charset="0"/>
                      </a:endParaRPr>
                    </a:p>
                  </a:txBody>
                  <a:tcPr marL="91440" marR="91440" marT="45720" marB="45720" anchor="ctr">
                    <a:lnL w="12700" cap="flat" cmpd="sng" algn="ctr">
                      <a:solidFill>
                        <a:srgbClr val="E7DED0"/>
                      </a:solidFill>
                      <a:prstDash val="solid"/>
                      <a:round/>
                      <a:headEnd type="none" w="med" len="med"/>
                      <a:tailEnd type="none" w="med" len="med"/>
                    </a:lnL>
                    <a:lnR w="12700" cap="flat" cmpd="sng" algn="ctr">
                      <a:solidFill>
                        <a:srgbClr val="E7DED0"/>
                      </a:solidFill>
                      <a:prstDash val="solid"/>
                      <a:round/>
                      <a:headEnd type="none" w="med" len="med"/>
                      <a:tailEnd type="none" w="med" len="med"/>
                    </a:lnR>
                    <a:lnT w="12700" cap="flat" cmpd="sng" algn="ctr">
                      <a:solidFill>
                        <a:srgbClr val="E7DED0"/>
                      </a:solidFill>
                      <a:prstDash val="solid"/>
                      <a:round/>
                      <a:headEnd type="none" w="med" len="med"/>
                      <a:tailEnd type="none" w="med" len="med"/>
                    </a:lnT>
                    <a:lnB w="12700" cap="flat" cmpd="sng" algn="ctr">
                      <a:solidFill>
                        <a:srgbClr val="E7DED0"/>
                      </a:solidFill>
                      <a:prstDash val="solid"/>
                      <a:round/>
                      <a:headEnd type="none" w="med" len="med"/>
                      <a:tailEnd type="none" w="med" len="med"/>
                    </a:lnB>
                    <a:solidFill>
                      <a:srgbClr val="0E3B31"/>
                    </a:solidFill>
                  </a:tcPr>
                </a:tc>
              </a:tr>
              <a:tr h="402336">
                <a:tc>
                  <a:txBody>
                    <a:bodyPr/>
                    <a:lstStyle/>
                    <a:p>
                      <a:pPr indent="0" marL="0">
                        <a:buNone/>
                      </a:pPr>
                      <a:r>
                        <a:rPr lang="en-US" sz="1350" dirty="0">
                          <a:solidFill>
                            <a:srgbClr val="1B2A24"/>
                          </a:solidFill>
                          <a:latin typeface="Calibri" pitchFamily="34" charset="0"/>
                          <a:ea typeface="Calibri" pitchFamily="34" charset="-122"/>
                          <a:cs typeface="Calibri" pitchFamily="34" charset="-120"/>
                        </a:rPr>
                        <a:t>Nav norādīta līguma vērtība</a:t>
                      </a:r>
                      <a:endParaRPr lang="en-US" sz="1350" dirty="0">
                        <a:latin typeface="Calibri" charset="0"/>
                        <a:ea typeface="Calibri" charset="0"/>
                        <a:cs typeface="Calibri" charset="0"/>
                      </a:endParaRPr>
                    </a:p>
                  </a:txBody>
                  <a:tcPr marL="91440" marR="91440" marT="45720" marB="45720" anchor="ctr">
                    <a:lnL w="12700" cap="flat" cmpd="sng" algn="ctr">
                      <a:solidFill>
                        <a:srgbClr val="E7DED0"/>
                      </a:solidFill>
                      <a:prstDash val="solid"/>
                      <a:round/>
                      <a:headEnd type="none" w="med" len="med"/>
                      <a:tailEnd type="none" w="med" len="med"/>
                    </a:lnL>
                    <a:lnR w="12700" cap="flat" cmpd="sng" algn="ctr">
                      <a:solidFill>
                        <a:srgbClr val="E7DED0"/>
                      </a:solidFill>
                      <a:prstDash val="solid"/>
                      <a:round/>
                      <a:headEnd type="none" w="med" len="med"/>
                      <a:tailEnd type="none" w="med" len="med"/>
                    </a:lnR>
                    <a:lnT w="12700" cap="flat" cmpd="sng" algn="ctr">
                      <a:solidFill>
                        <a:srgbClr val="E7DED0"/>
                      </a:solidFill>
                      <a:prstDash val="solid"/>
                      <a:round/>
                      <a:headEnd type="none" w="med" len="med"/>
                      <a:tailEnd type="none" w="med" len="med"/>
                    </a:lnT>
                    <a:lnB w="12700" cap="flat" cmpd="sng" algn="ctr">
                      <a:solidFill>
                        <a:srgbClr val="E7DED0"/>
                      </a:solidFill>
                      <a:prstDash val="solid"/>
                      <a:round/>
                      <a:headEnd type="none" w="med" len="med"/>
                      <a:tailEnd type="none" w="med" len="med"/>
                    </a:lnB>
                    <a:solidFill>
                      <a:srgbClr val="FFFFFF"/>
                    </a:solidFill>
                  </a:tcPr>
                </a:tc>
                <a:tc>
                  <a:txBody>
                    <a:bodyPr/>
                    <a:lstStyle/>
                    <a:p>
                      <a:pPr indent="0" marL="0">
                        <a:buNone/>
                      </a:pPr>
                      <a:r>
                        <a:rPr lang="en-US" sz="1350" dirty="0">
                          <a:solidFill>
                            <a:srgbClr val="1B2A24"/>
                          </a:solidFill>
                          <a:latin typeface="Calibri" pitchFamily="34" charset="0"/>
                          <a:ea typeface="Calibri" pitchFamily="34" charset="-122"/>
                          <a:cs typeface="Calibri" pitchFamily="34" charset="-120"/>
                        </a:rPr>
                        <a:t>819  (3,7 %)</a:t>
                      </a:r>
                      <a:endParaRPr lang="en-US" sz="1350" dirty="0">
                        <a:latin typeface="Calibri" charset="0"/>
                        <a:ea typeface="Calibri" charset="0"/>
                        <a:cs typeface="Calibri" charset="0"/>
                      </a:endParaRPr>
                    </a:p>
                  </a:txBody>
                  <a:tcPr marL="91440" marR="91440" marT="45720" marB="45720" anchor="ctr">
                    <a:lnL w="12700" cap="flat" cmpd="sng" algn="ctr">
                      <a:solidFill>
                        <a:srgbClr val="E7DED0"/>
                      </a:solidFill>
                      <a:prstDash val="solid"/>
                      <a:round/>
                      <a:headEnd type="none" w="med" len="med"/>
                      <a:tailEnd type="none" w="med" len="med"/>
                    </a:lnL>
                    <a:lnR w="12700" cap="flat" cmpd="sng" algn="ctr">
                      <a:solidFill>
                        <a:srgbClr val="E7DED0"/>
                      </a:solidFill>
                      <a:prstDash val="solid"/>
                      <a:round/>
                      <a:headEnd type="none" w="med" len="med"/>
                      <a:tailEnd type="none" w="med" len="med"/>
                    </a:lnR>
                    <a:lnT w="12700" cap="flat" cmpd="sng" algn="ctr">
                      <a:solidFill>
                        <a:srgbClr val="E7DED0"/>
                      </a:solidFill>
                      <a:prstDash val="solid"/>
                      <a:round/>
                      <a:headEnd type="none" w="med" len="med"/>
                      <a:tailEnd type="none" w="med" len="med"/>
                    </a:lnT>
                    <a:lnB w="12700" cap="flat" cmpd="sng" algn="ctr">
                      <a:solidFill>
                        <a:srgbClr val="E7DED0"/>
                      </a:solidFill>
                      <a:prstDash val="solid"/>
                      <a:round/>
                      <a:headEnd type="none" w="med" len="med"/>
                      <a:tailEnd type="none" w="med" len="med"/>
                    </a:lnB>
                    <a:solidFill>
                      <a:srgbClr val="FFFFFF"/>
                    </a:solidFill>
                  </a:tcPr>
                </a:tc>
                <a:tc>
                  <a:txBody>
                    <a:bodyPr/>
                    <a:lstStyle/>
                    <a:p>
                      <a:pPr indent="0" marL="0">
                        <a:buNone/>
                      </a:pPr>
                      <a:r>
                        <a:rPr lang="en-US" sz="1350" dirty="0">
                          <a:solidFill>
                            <a:srgbClr val="1B2A24"/>
                          </a:solidFill>
                          <a:latin typeface="Calibri" pitchFamily="34" charset="0"/>
                          <a:ea typeface="Calibri" pitchFamily="34" charset="-122"/>
                          <a:cs typeface="Calibri" pitchFamily="34" charset="-120"/>
                        </a:rPr>
                        <a:t>Aprēķināt iepirkuma apjomu</a:t>
                      </a:r>
                      <a:endParaRPr lang="en-US" sz="1350" dirty="0">
                        <a:latin typeface="Calibri" charset="0"/>
                        <a:ea typeface="Calibri" charset="0"/>
                        <a:cs typeface="Calibri" charset="0"/>
                      </a:endParaRPr>
                    </a:p>
                  </a:txBody>
                  <a:tcPr marL="91440" marR="91440" marT="45720" marB="45720" anchor="ctr">
                    <a:lnL w="12700" cap="flat" cmpd="sng" algn="ctr">
                      <a:solidFill>
                        <a:srgbClr val="E7DED0"/>
                      </a:solidFill>
                      <a:prstDash val="solid"/>
                      <a:round/>
                      <a:headEnd type="none" w="med" len="med"/>
                      <a:tailEnd type="none" w="med" len="med"/>
                    </a:lnL>
                    <a:lnR w="12700" cap="flat" cmpd="sng" algn="ctr">
                      <a:solidFill>
                        <a:srgbClr val="E7DED0"/>
                      </a:solidFill>
                      <a:prstDash val="solid"/>
                      <a:round/>
                      <a:headEnd type="none" w="med" len="med"/>
                      <a:tailEnd type="none" w="med" len="med"/>
                    </a:lnR>
                    <a:lnT w="12700" cap="flat" cmpd="sng" algn="ctr">
                      <a:solidFill>
                        <a:srgbClr val="E7DED0"/>
                      </a:solidFill>
                      <a:prstDash val="solid"/>
                      <a:round/>
                      <a:headEnd type="none" w="med" len="med"/>
                      <a:tailEnd type="none" w="med" len="med"/>
                    </a:lnT>
                    <a:lnB w="12700" cap="flat" cmpd="sng" algn="ctr">
                      <a:solidFill>
                        <a:srgbClr val="E7DED0"/>
                      </a:solidFill>
                      <a:prstDash val="solid"/>
                      <a:round/>
                      <a:headEnd type="none" w="med" len="med"/>
                      <a:tailEnd type="none" w="med" len="med"/>
                    </a:lnB>
                    <a:solidFill>
                      <a:srgbClr val="FFFFFF"/>
                    </a:solidFill>
                  </a:tcPr>
                </a:tc>
              </a:tr>
              <a:tr h="402336">
                <a:tc>
                  <a:txBody>
                    <a:bodyPr/>
                    <a:lstStyle/>
                    <a:p>
                      <a:pPr indent="0" marL="0">
                        <a:buNone/>
                      </a:pPr>
                      <a:r>
                        <a:rPr lang="en-US" sz="1350" dirty="0">
                          <a:solidFill>
                            <a:srgbClr val="1B2A24"/>
                          </a:solidFill>
                          <a:latin typeface="Calibri" pitchFamily="34" charset="0"/>
                          <a:ea typeface="Calibri" pitchFamily="34" charset="-122"/>
                          <a:cs typeface="Calibri" pitchFamily="34" charset="-120"/>
                        </a:rPr>
                        <a:t>Nav CPV koda</a:t>
                      </a:r>
                      <a:endParaRPr lang="en-US" sz="1350" dirty="0">
                        <a:latin typeface="Calibri" charset="0"/>
                        <a:ea typeface="Calibri" charset="0"/>
                        <a:cs typeface="Calibri" charset="0"/>
                      </a:endParaRPr>
                    </a:p>
                  </a:txBody>
                  <a:tcPr marL="91440" marR="91440" marT="45720" marB="45720" anchor="ctr">
                    <a:lnL w="12700" cap="flat" cmpd="sng" algn="ctr">
                      <a:solidFill>
                        <a:srgbClr val="E7DED0"/>
                      </a:solidFill>
                      <a:prstDash val="solid"/>
                      <a:round/>
                      <a:headEnd type="none" w="med" len="med"/>
                      <a:tailEnd type="none" w="med" len="med"/>
                    </a:lnL>
                    <a:lnR w="12700" cap="flat" cmpd="sng" algn="ctr">
                      <a:solidFill>
                        <a:srgbClr val="E7DED0"/>
                      </a:solidFill>
                      <a:prstDash val="solid"/>
                      <a:round/>
                      <a:headEnd type="none" w="med" len="med"/>
                      <a:tailEnd type="none" w="med" len="med"/>
                    </a:lnR>
                    <a:lnT w="12700" cap="flat" cmpd="sng" algn="ctr">
                      <a:solidFill>
                        <a:srgbClr val="E7DED0"/>
                      </a:solidFill>
                      <a:prstDash val="solid"/>
                      <a:round/>
                      <a:headEnd type="none" w="med" len="med"/>
                      <a:tailEnd type="none" w="med" len="med"/>
                    </a:lnT>
                    <a:lnB w="12700" cap="flat" cmpd="sng" algn="ctr">
                      <a:solidFill>
                        <a:srgbClr val="E7DED0"/>
                      </a:solidFill>
                      <a:prstDash val="solid"/>
                      <a:round/>
                      <a:headEnd type="none" w="med" len="med"/>
                      <a:tailEnd type="none" w="med" len="med"/>
                    </a:lnB>
                    <a:solidFill>
                      <a:srgbClr val="FFFFFF"/>
                    </a:solidFill>
                  </a:tcPr>
                </a:tc>
                <a:tc>
                  <a:txBody>
                    <a:bodyPr/>
                    <a:lstStyle/>
                    <a:p>
                      <a:pPr indent="0" marL="0">
                        <a:buNone/>
                      </a:pPr>
                      <a:r>
                        <a:rPr lang="en-US" sz="1350" dirty="0">
                          <a:solidFill>
                            <a:srgbClr val="1B2A24"/>
                          </a:solidFill>
                          <a:latin typeface="Calibri" pitchFamily="34" charset="0"/>
                          <a:ea typeface="Calibri" pitchFamily="34" charset="-122"/>
                          <a:cs typeface="Calibri" pitchFamily="34" charset="-120"/>
                        </a:rPr>
                        <a:t>842  (3,8 %)</a:t>
                      </a:r>
                      <a:endParaRPr lang="en-US" sz="1350" dirty="0">
                        <a:latin typeface="Calibri" charset="0"/>
                        <a:ea typeface="Calibri" charset="0"/>
                        <a:cs typeface="Calibri" charset="0"/>
                      </a:endParaRPr>
                    </a:p>
                  </a:txBody>
                  <a:tcPr marL="91440" marR="91440" marT="45720" marB="45720" anchor="ctr">
                    <a:lnL w="12700" cap="flat" cmpd="sng" algn="ctr">
                      <a:solidFill>
                        <a:srgbClr val="E7DED0"/>
                      </a:solidFill>
                      <a:prstDash val="solid"/>
                      <a:round/>
                      <a:headEnd type="none" w="med" len="med"/>
                      <a:tailEnd type="none" w="med" len="med"/>
                    </a:lnL>
                    <a:lnR w="12700" cap="flat" cmpd="sng" algn="ctr">
                      <a:solidFill>
                        <a:srgbClr val="E7DED0"/>
                      </a:solidFill>
                      <a:prstDash val="solid"/>
                      <a:round/>
                      <a:headEnd type="none" w="med" len="med"/>
                      <a:tailEnd type="none" w="med" len="med"/>
                    </a:lnR>
                    <a:lnT w="12700" cap="flat" cmpd="sng" algn="ctr">
                      <a:solidFill>
                        <a:srgbClr val="E7DED0"/>
                      </a:solidFill>
                      <a:prstDash val="solid"/>
                      <a:round/>
                      <a:headEnd type="none" w="med" len="med"/>
                      <a:tailEnd type="none" w="med" len="med"/>
                    </a:lnT>
                    <a:lnB w="12700" cap="flat" cmpd="sng" algn="ctr">
                      <a:solidFill>
                        <a:srgbClr val="E7DED0"/>
                      </a:solidFill>
                      <a:prstDash val="solid"/>
                      <a:round/>
                      <a:headEnd type="none" w="med" len="med"/>
                      <a:tailEnd type="none" w="med" len="med"/>
                    </a:lnB>
                    <a:solidFill>
                      <a:srgbClr val="FFFFFF"/>
                    </a:solidFill>
                  </a:tcPr>
                </a:tc>
                <a:tc>
                  <a:txBody>
                    <a:bodyPr/>
                    <a:lstStyle/>
                    <a:p>
                      <a:pPr indent="0" marL="0">
                        <a:buNone/>
                      </a:pPr>
                      <a:r>
                        <a:rPr lang="en-US" sz="1350" dirty="0">
                          <a:solidFill>
                            <a:srgbClr val="1B2A24"/>
                          </a:solidFill>
                          <a:latin typeface="Calibri" pitchFamily="34" charset="0"/>
                          <a:ea typeface="Calibri" pitchFamily="34" charset="-122"/>
                          <a:cs typeface="Calibri" pitchFamily="34" charset="-120"/>
                        </a:rPr>
                        <a:t>Iekļaut nozares analīzē</a:t>
                      </a:r>
                      <a:endParaRPr lang="en-US" sz="1350" dirty="0">
                        <a:latin typeface="Calibri" charset="0"/>
                        <a:ea typeface="Calibri" charset="0"/>
                        <a:cs typeface="Calibri" charset="0"/>
                      </a:endParaRPr>
                    </a:p>
                  </a:txBody>
                  <a:tcPr marL="91440" marR="91440" marT="45720" marB="45720" anchor="ctr">
                    <a:lnL w="12700" cap="flat" cmpd="sng" algn="ctr">
                      <a:solidFill>
                        <a:srgbClr val="E7DED0"/>
                      </a:solidFill>
                      <a:prstDash val="solid"/>
                      <a:round/>
                      <a:headEnd type="none" w="med" len="med"/>
                      <a:tailEnd type="none" w="med" len="med"/>
                    </a:lnL>
                    <a:lnR w="12700" cap="flat" cmpd="sng" algn="ctr">
                      <a:solidFill>
                        <a:srgbClr val="E7DED0"/>
                      </a:solidFill>
                      <a:prstDash val="solid"/>
                      <a:round/>
                      <a:headEnd type="none" w="med" len="med"/>
                      <a:tailEnd type="none" w="med" len="med"/>
                    </a:lnR>
                    <a:lnT w="12700" cap="flat" cmpd="sng" algn="ctr">
                      <a:solidFill>
                        <a:srgbClr val="E7DED0"/>
                      </a:solidFill>
                      <a:prstDash val="solid"/>
                      <a:round/>
                      <a:headEnd type="none" w="med" len="med"/>
                      <a:tailEnd type="none" w="med" len="med"/>
                    </a:lnT>
                    <a:lnB w="12700" cap="flat" cmpd="sng" algn="ctr">
                      <a:solidFill>
                        <a:srgbClr val="E7DED0"/>
                      </a:solidFill>
                      <a:prstDash val="solid"/>
                      <a:round/>
                      <a:headEnd type="none" w="med" len="med"/>
                      <a:tailEnd type="none" w="med" len="med"/>
                    </a:lnB>
                    <a:solidFill>
                      <a:srgbClr val="FFFFFF"/>
                    </a:solidFill>
                  </a:tcPr>
                </a:tc>
              </a:tr>
              <a:tr h="402336">
                <a:tc>
                  <a:txBody>
                    <a:bodyPr/>
                    <a:lstStyle/>
                    <a:p>
                      <a:pPr indent="0" marL="0">
                        <a:buNone/>
                      </a:pPr>
                      <a:r>
                        <a:rPr lang="en-US" sz="1350" dirty="0">
                          <a:solidFill>
                            <a:srgbClr val="1B2A24"/>
                          </a:solidFill>
                          <a:latin typeface="Calibri" pitchFamily="34" charset="0"/>
                          <a:ea typeface="Calibri" pitchFamily="34" charset="-122"/>
                          <a:cs typeface="Calibri" pitchFamily="34" charset="-120"/>
                        </a:rPr>
                        <a:t>Nav saņemto piedāvājumu skaita</a:t>
                      </a:r>
                      <a:endParaRPr lang="en-US" sz="1350" dirty="0">
                        <a:latin typeface="Calibri" charset="0"/>
                        <a:ea typeface="Calibri" charset="0"/>
                        <a:cs typeface="Calibri" charset="0"/>
                      </a:endParaRPr>
                    </a:p>
                  </a:txBody>
                  <a:tcPr marL="91440" marR="91440" marT="45720" marB="45720" anchor="ctr">
                    <a:lnL w="12700" cap="flat" cmpd="sng" algn="ctr">
                      <a:solidFill>
                        <a:srgbClr val="E7DED0"/>
                      </a:solidFill>
                      <a:prstDash val="solid"/>
                      <a:round/>
                      <a:headEnd type="none" w="med" len="med"/>
                      <a:tailEnd type="none" w="med" len="med"/>
                    </a:lnL>
                    <a:lnR w="12700" cap="flat" cmpd="sng" algn="ctr">
                      <a:solidFill>
                        <a:srgbClr val="E7DED0"/>
                      </a:solidFill>
                      <a:prstDash val="solid"/>
                      <a:round/>
                      <a:headEnd type="none" w="med" len="med"/>
                      <a:tailEnd type="none" w="med" len="med"/>
                    </a:lnR>
                    <a:lnT w="12700" cap="flat" cmpd="sng" algn="ctr">
                      <a:solidFill>
                        <a:srgbClr val="E7DED0"/>
                      </a:solidFill>
                      <a:prstDash val="solid"/>
                      <a:round/>
                      <a:headEnd type="none" w="med" len="med"/>
                      <a:tailEnd type="none" w="med" len="med"/>
                    </a:lnT>
                    <a:lnB w="12700" cap="flat" cmpd="sng" algn="ctr">
                      <a:solidFill>
                        <a:srgbClr val="E7DED0"/>
                      </a:solidFill>
                      <a:prstDash val="solid"/>
                      <a:round/>
                      <a:headEnd type="none" w="med" len="med"/>
                      <a:tailEnd type="none" w="med" len="med"/>
                    </a:lnB>
                    <a:solidFill>
                      <a:srgbClr val="FFFFFF"/>
                    </a:solidFill>
                  </a:tcPr>
                </a:tc>
                <a:tc>
                  <a:txBody>
                    <a:bodyPr/>
                    <a:lstStyle/>
                    <a:p>
                      <a:pPr indent="0" marL="0">
                        <a:buNone/>
                      </a:pPr>
                      <a:r>
                        <a:rPr lang="en-US" sz="1350" dirty="0">
                          <a:solidFill>
                            <a:srgbClr val="1B2A24"/>
                          </a:solidFill>
                          <a:latin typeface="Calibri" pitchFamily="34" charset="0"/>
                          <a:ea typeface="Calibri" pitchFamily="34" charset="-122"/>
                          <a:cs typeface="Calibri" pitchFamily="34" charset="-120"/>
                        </a:rPr>
                        <a:t>1 267  (5,7 %)</a:t>
                      </a:r>
                      <a:endParaRPr lang="en-US" sz="1350" dirty="0">
                        <a:latin typeface="Calibri" charset="0"/>
                        <a:ea typeface="Calibri" charset="0"/>
                        <a:cs typeface="Calibri" charset="0"/>
                      </a:endParaRPr>
                    </a:p>
                  </a:txBody>
                  <a:tcPr marL="91440" marR="91440" marT="45720" marB="45720" anchor="ctr">
                    <a:lnL w="12700" cap="flat" cmpd="sng" algn="ctr">
                      <a:solidFill>
                        <a:srgbClr val="E7DED0"/>
                      </a:solidFill>
                      <a:prstDash val="solid"/>
                      <a:round/>
                      <a:headEnd type="none" w="med" len="med"/>
                      <a:tailEnd type="none" w="med" len="med"/>
                    </a:lnL>
                    <a:lnR w="12700" cap="flat" cmpd="sng" algn="ctr">
                      <a:solidFill>
                        <a:srgbClr val="E7DED0"/>
                      </a:solidFill>
                      <a:prstDash val="solid"/>
                      <a:round/>
                      <a:headEnd type="none" w="med" len="med"/>
                      <a:tailEnd type="none" w="med" len="med"/>
                    </a:lnR>
                    <a:lnT w="12700" cap="flat" cmpd="sng" algn="ctr">
                      <a:solidFill>
                        <a:srgbClr val="E7DED0"/>
                      </a:solidFill>
                      <a:prstDash val="solid"/>
                      <a:round/>
                      <a:headEnd type="none" w="med" len="med"/>
                      <a:tailEnd type="none" w="med" len="med"/>
                    </a:lnT>
                    <a:lnB w="12700" cap="flat" cmpd="sng" algn="ctr">
                      <a:solidFill>
                        <a:srgbClr val="E7DED0"/>
                      </a:solidFill>
                      <a:prstDash val="solid"/>
                      <a:round/>
                      <a:headEnd type="none" w="med" len="med"/>
                      <a:tailEnd type="none" w="med" len="med"/>
                    </a:lnB>
                    <a:solidFill>
                      <a:srgbClr val="FFFFFF"/>
                    </a:solidFill>
                  </a:tcPr>
                </a:tc>
                <a:tc>
                  <a:txBody>
                    <a:bodyPr/>
                    <a:lstStyle/>
                    <a:p>
                      <a:pPr indent="0" marL="0">
                        <a:buNone/>
                      </a:pPr>
                      <a:r>
                        <a:rPr lang="en-US" sz="1350" dirty="0">
                          <a:solidFill>
                            <a:srgbClr val="1B2A24"/>
                          </a:solidFill>
                          <a:latin typeface="Calibri" pitchFamily="34" charset="0"/>
                          <a:ea typeface="Calibri" pitchFamily="34" charset="-122"/>
                          <a:cs typeface="Calibri" pitchFamily="34" charset="-120"/>
                        </a:rPr>
                        <a:t>Aprēķināt konkurences rādītāju</a:t>
                      </a:r>
                      <a:endParaRPr lang="en-US" sz="1350" dirty="0">
                        <a:latin typeface="Calibri" charset="0"/>
                        <a:ea typeface="Calibri" charset="0"/>
                        <a:cs typeface="Calibri" charset="0"/>
                      </a:endParaRPr>
                    </a:p>
                  </a:txBody>
                  <a:tcPr marL="91440" marR="91440" marT="45720" marB="45720" anchor="ctr">
                    <a:lnL w="12700" cap="flat" cmpd="sng" algn="ctr">
                      <a:solidFill>
                        <a:srgbClr val="E7DED0"/>
                      </a:solidFill>
                      <a:prstDash val="solid"/>
                      <a:round/>
                      <a:headEnd type="none" w="med" len="med"/>
                      <a:tailEnd type="none" w="med" len="med"/>
                    </a:lnL>
                    <a:lnR w="12700" cap="flat" cmpd="sng" algn="ctr">
                      <a:solidFill>
                        <a:srgbClr val="E7DED0"/>
                      </a:solidFill>
                      <a:prstDash val="solid"/>
                      <a:round/>
                      <a:headEnd type="none" w="med" len="med"/>
                      <a:tailEnd type="none" w="med" len="med"/>
                    </a:lnR>
                    <a:lnT w="12700" cap="flat" cmpd="sng" algn="ctr">
                      <a:solidFill>
                        <a:srgbClr val="E7DED0"/>
                      </a:solidFill>
                      <a:prstDash val="solid"/>
                      <a:round/>
                      <a:headEnd type="none" w="med" len="med"/>
                      <a:tailEnd type="none" w="med" len="med"/>
                    </a:lnT>
                    <a:lnB w="12700" cap="flat" cmpd="sng" algn="ctr">
                      <a:solidFill>
                        <a:srgbClr val="E7DED0"/>
                      </a:solidFill>
                      <a:prstDash val="solid"/>
                      <a:round/>
                      <a:headEnd type="none" w="med" len="med"/>
                      <a:tailEnd type="none" w="med" len="med"/>
                    </a:lnB>
                    <a:solidFill>
                      <a:srgbClr val="FFFFFF"/>
                    </a:solidFill>
                  </a:tcPr>
                </a:tc>
              </a:tr>
              <a:tr h="402336">
                <a:tc>
                  <a:txBody>
                    <a:bodyPr/>
                    <a:lstStyle/>
                    <a:p>
                      <a:pPr indent="0" marL="0">
                        <a:buNone/>
                      </a:pPr>
                      <a:r>
                        <a:rPr lang="en-US" sz="1350" dirty="0">
                          <a:solidFill>
                            <a:srgbClr val="1B2A24"/>
                          </a:solidFill>
                          <a:latin typeface="Calibri" pitchFamily="34" charset="0"/>
                          <a:ea typeface="Calibri" pitchFamily="34" charset="-122"/>
                          <a:cs typeface="Calibri" pitchFamily="34" charset="-120"/>
                        </a:rPr>
                        <a:t>Nav uzvarētāja reģ. Nr.</a:t>
                      </a:r>
                      <a:endParaRPr lang="en-US" sz="1350" dirty="0">
                        <a:latin typeface="Calibri" charset="0"/>
                        <a:ea typeface="Calibri" charset="0"/>
                        <a:cs typeface="Calibri" charset="0"/>
                      </a:endParaRPr>
                    </a:p>
                  </a:txBody>
                  <a:tcPr marL="91440" marR="91440" marT="45720" marB="45720" anchor="ctr">
                    <a:lnL w="12700" cap="flat" cmpd="sng" algn="ctr">
                      <a:solidFill>
                        <a:srgbClr val="E7DED0"/>
                      </a:solidFill>
                      <a:prstDash val="solid"/>
                      <a:round/>
                      <a:headEnd type="none" w="med" len="med"/>
                      <a:tailEnd type="none" w="med" len="med"/>
                    </a:lnL>
                    <a:lnR w="12700" cap="flat" cmpd="sng" algn="ctr">
                      <a:solidFill>
                        <a:srgbClr val="E7DED0"/>
                      </a:solidFill>
                      <a:prstDash val="solid"/>
                      <a:round/>
                      <a:headEnd type="none" w="med" len="med"/>
                      <a:tailEnd type="none" w="med" len="med"/>
                    </a:lnR>
                    <a:lnT w="12700" cap="flat" cmpd="sng" algn="ctr">
                      <a:solidFill>
                        <a:srgbClr val="E7DED0"/>
                      </a:solidFill>
                      <a:prstDash val="solid"/>
                      <a:round/>
                      <a:headEnd type="none" w="med" len="med"/>
                      <a:tailEnd type="none" w="med" len="med"/>
                    </a:lnT>
                    <a:lnB w="12700" cap="flat" cmpd="sng" algn="ctr">
                      <a:solidFill>
                        <a:srgbClr val="E7DED0"/>
                      </a:solidFill>
                      <a:prstDash val="solid"/>
                      <a:round/>
                      <a:headEnd type="none" w="med" len="med"/>
                      <a:tailEnd type="none" w="med" len="med"/>
                    </a:lnB>
                    <a:solidFill>
                      <a:srgbClr val="FFFFFF"/>
                    </a:solidFill>
                  </a:tcPr>
                </a:tc>
                <a:tc>
                  <a:txBody>
                    <a:bodyPr/>
                    <a:lstStyle/>
                    <a:p>
                      <a:pPr indent="0" marL="0">
                        <a:buNone/>
                      </a:pPr>
                      <a:r>
                        <a:rPr lang="en-US" sz="1350" dirty="0">
                          <a:solidFill>
                            <a:srgbClr val="1B2A24"/>
                          </a:solidFill>
                          <a:latin typeface="Calibri" pitchFamily="34" charset="0"/>
                          <a:ea typeface="Calibri" pitchFamily="34" charset="-122"/>
                          <a:cs typeface="Calibri" pitchFamily="34" charset="-120"/>
                        </a:rPr>
                        <a:t>399  (1,8 %)</a:t>
                      </a:r>
                      <a:endParaRPr lang="en-US" sz="1350" dirty="0">
                        <a:latin typeface="Calibri" charset="0"/>
                        <a:ea typeface="Calibri" charset="0"/>
                        <a:cs typeface="Calibri" charset="0"/>
                      </a:endParaRPr>
                    </a:p>
                  </a:txBody>
                  <a:tcPr marL="91440" marR="91440" marT="45720" marB="45720" anchor="ctr">
                    <a:lnL w="12700" cap="flat" cmpd="sng" algn="ctr">
                      <a:solidFill>
                        <a:srgbClr val="E7DED0"/>
                      </a:solidFill>
                      <a:prstDash val="solid"/>
                      <a:round/>
                      <a:headEnd type="none" w="med" len="med"/>
                      <a:tailEnd type="none" w="med" len="med"/>
                    </a:lnL>
                    <a:lnR w="12700" cap="flat" cmpd="sng" algn="ctr">
                      <a:solidFill>
                        <a:srgbClr val="E7DED0"/>
                      </a:solidFill>
                      <a:prstDash val="solid"/>
                      <a:round/>
                      <a:headEnd type="none" w="med" len="med"/>
                      <a:tailEnd type="none" w="med" len="med"/>
                    </a:lnR>
                    <a:lnT w="12700" cap="flat" cmpd="sng" algn="ctr">
                      <a:solidFill>
                        <a:srgbClr val="E7DED0"/>
                      </a:solidFill>
                      <a:prstDash val="solid"/>
                      <a:round/>
                      <a:headEnd type="none" w="med" len="med"/>
                      <a:tailEnd type="none" w="med" len="med"/>
                    </a:lnT>
                    <a:lnB w="12700" cap="flat" cmpd="sng" algn="ctr">
                      <a:solidFill>
                        <a:srgbClr val="E7DED0"/>
                      </a:solidFill>
                      <a:prstDash val="solid"/>
                      <a:round/>
                      <a:headEnd type="none" w="med" len="med"/>
                      <a:tailEnd type="none" w="med" len="med"/>
                    </a:lnB>
                    <a:solidFill>
                      <a:srgbClr val="FFFFFF"/>
                    </a:solidFill>
                  </a:tcPr>
                </a:tc>
                <a:tc>
                  <a:txBody>
                    <a:bodyPr/>
                    <a:lstStyle/>
                    <a:p>
                      <a:pPr indent="0" marL="0">
                        <a:buNone/>
                      </a:pPr>
                      <a:r>
                        <a:rPr lang="en-US" sz="1350" dirty="0">
                          <a:solidFill>
                            <a:srgbClr val="1B2A24"/>
                          </a:solidFill>
                          <a:latin typeface="Calibri" pitchFamily="34" charset="0"/>
                          <a:ea typeface="Calibri" pitchFamily="34" charset="-122"/>
                          <a:cs typeface="Calibri" pitchFamily="34" charset="-120"/>
                        </a:rPr>
                        <a:t>Sasaistīt ar Uzņēmumu reģistru</a:t>
                      </a:r>
                      <a:endParaRPr lang="en-US" sz="1350" dirty="0">
                        <a:latin typeface="Calibri" charset="0"/>
                        <a:ea typeface="Calibri" charset="0"/>
                        <a:cs typeface="Calibri" charset="0"/>
                      </a:endParaRPr>
                    </a:p>
                  </a:txBody>
                  <a:tcPr marL="91440" marR="91440" marT="45720" marB="45720" anchor="ctr">
                    <a:lnL w="12700" cap="flat" cmpd="sng" algn="ctr">
                      <a:solidFill>
                        <a:srgbClr val="E7DED0"/>
                      </a:solidFill>
                      <a:prstDash val="solid"/>
                      <a:round/>
                      <a:headEnd type="none" w="med" len="med"/>
                      <a:tailEnd type="none" w="med" len="med"/>
                    </a:lnL>
                    <a:lnR w="12700" cap="flat" cmpd="sng" algn="ctr">
                      <a:solidFill>
                        <a:srgbClr val="E7DED0"/>
                      </a:solidFill>
                      <a:prstDash val="solid"/>
                      <a:round/>
                      <a:headEnd type="none" w="med" len="med"/>
                      <a:tailEnd type="none" w="med" len="med"/>
                    </a:lnR>
                    <a:lnT w="12700" cap="flat" cmpd="sng" algn="ctr">
                      <a:solidFill>
                        <a:srgbClr val="E7DED0"/>
                      </a:solidFill>
                      <a:prstDash val="solid"/>
                      <a:round/>
                      <a:headEnd type="none" w="med" len="med"/>
                      <a:tailEnd type="none" w="med" len="med"/>
                    </a:lnT>
                    <a:lnB w="12700" cap="flat" cmpd="sng" algn="ctr">
                      <a:solidFill>
                        <a:srgbClr val="E7DED0"/>
                      </a:solidFill>
                      <a:prstDash val="solid"/>
                      <a:round/>
                      <a:headEnd type="none" w="med" len="med"/>
                      <a:tailEnd type="none" w="med" len="med"/>
                    </a:lnB>
                    <a:solidFill>
                      <a:srgbClr val="FFFFFF"/>
                    </a:solidFill>
                  </a:tcPr>
                </a:tc>
              </a:tr>
              <a:tr h="402336">
                <a:tc>
                  <a:txBody>
                    <a:bodyPr/>
                    <a:lstStyle/>
                    <a:p>
                      <a:pPr indent="0" marL="0">
                        <a:buNone/>
                      </a:pPr>
                      <a:r>
                        <a:rPr lang="en-US" sz="1350" dirty="0">
                          <a:solidFill>
                            <a:srgbClr val="1B2A24"/>
                          </a:solidFill>
                          <a:latin typeface="Calibri" pitchFamily="34" charset="0"/>
                          <a:ea typeface="Calibri" pitchFamily="34" charset="-122"/>
                          <a:cs typeface="Calibri" pitchFamily="34" charset="-120"/>
                        </a:rPr>
                        <a:t>Vienā procedūrā pretrunīgas summas</a:t>
                      </a:r>
                      <a:endParaRPr lang="en-US" sz="1350" dirty="0">
                        <a:latin typeface="Calibri" charset="0"/>
                        <a:ea typeface="Calibri" charset="0"/>
                        <a:cs typeface="Calibri" charset="0"/>
                      </a:endParaRPr>
                    </a:p>
                  </a:txBody>
                  <a:tcPr marL="91440" marR="91440" marT="45720" marB="45720" anchor="ctr">
                    <a:lnL w="12700" cap="flat" cmpd="sng" algn="ctr">
                      <a:solidFill>
                        <a:srgbClr val="E7DED0"/>
                      </a:solidFill>
                      <a:prstDash val="solid"/>
                      <a:round/>
                      <a:headEnd type="none" w="med" len="med"/>
                      <a:tailEnd type="none" w="med" len="med"/>
                    </a:lnL>
                    <a:lnR w="12700" cap="flat" cmpd="sng" algn="ctr">
                      <a:solidFill>
                        <a:srgbClr val="E7DED0"/>
                      </a:solidFill>
                      <a:prstDash val="solid"/>
                      <a:round/>
                      <a:headEnd type="none" w="med" len="med"/>
                      <a:tailEnd type="none" w="med" len="med"/>
                    </a:lnR>
                    <a:lnT w="12700" cap="flat" cmpd="sng" algn="ctr">
                      <a:solidFill>
                        <a:srgbClr val="E7DED0"/>
                      </a:solidFill>
                      <a:prstDash val="solid"/>
                      <a:round/>
                      <a:headEnd type="none" w="med" len="med"/>
                      <a:tailEnd type="none" w="med" len="med"/>
                    </a:lnT>
                    <a:lnB w="12700" cap="flat" cmpd="sng" algn="ctr">
                      <a:solidFill>
                        <a:srgbClr val="E7DED0"/>
                      </a:solidFill>
                      <a:prstDash val="solid"/>
                      <a:round/>
                      <a:headEnd type="none" w="med" len="med"/>
                      <a:tailEnd type="none" w="med" len="med"/>
                    </a:lnB>
                    <a:solidFill>
                      <a:srgbClr val="FFFFFF"/>
                    </a:solidFill>
                  </a:tcPr>
                </a:tc>
                <a:tc>
                  <a:txBody>
                    <a:bodyPr/>
                    <a:lstStyle/>
                    <a:p>
                      <a:pPr indent="0" marL="0">
                        <a:buNone/>
                      </a:pPr>
                      <a:r>
                        <a:rPr lang="en-US" sz="1350" dirty="0">
                          <a:solidFill>
                            <a:srgbClr val="1B2A24"/>
                          </a:solidFill>
                          <a:latin typeface="Calibri" pitchFamily="34" charset="0"/>
                          <a:ea typeface="Calibri" pitchFamily="34" charset="-122"/>
                          <a:cs typeface="Calibri" pitchFamily="34" charset="-120"/>
                        </a:rPr>
                        <a:t>63</a:t>
                      </a:r>
                      <a:endParaRPr lang="en-US" sz="1350" dirty="0">
                        <a:latin typeface="Calibri" charset="0"/>
                        <a:ea typeface="Calibri" charset="0"/>
                        <a:cs typeface="Calibri" charset="0"/>
                      </a:endParaRPr>
                    </a:p>
                  </a:txBody>
                  <a:tcPr marL="91440" marR="91440" marT="45720" marB="45720" anchor="ctr">
                    <a:lnL w="12700" cap="flat" cmpd="sng" algn="ctr">
                      <a:solidFill>
                        <a:srgbClr val="E7DED0"/>
                      </a:solidFill>
                      <a:prstDash val="solid"/>
                      <a:round/>
                      <a:headEnd type="none" w="med" len="med"/>
                      <a:tailEnd type="none" w="med" len="med"/>
                    </a:lnL>
                    <a:lnR w="12700" cap="flat" cmpd="sng" algn="ctr">
                      <a:solidFill>
                        <a:srgbClr val="E7DED0"/>
                      </a:solidFill>
                      <a:prstDash val="solid"/>
                      <a:round/>
                      <a:headEnd type="none" w="med" len="med"/>
                      <a:tailEnd type="none" w="med" len="med"/>
                    </a:lnR>
                    <a:lnT w="12700" cap="flat" cmpd="sng" algn="ctr">
                      <a:solidFill>
                        <a:srgbClr val="E7DED0"/>
                      </a:solidFill>
                      <a:prstDash val="solid"/>
                      <a:round/>
                      <a:headEnd type="none" w="med" len="med"/>
                      <a:tailEnd type="none" w="med" len="med"/>
                    </a:lnT>
                    <a:lnB w="12700" cap="flat" cmpd="sng" algn="ctr">
                      <a:solidFill>
                        <a:srgbClr val="E7DED0"/>
                      </a:solidFill>
                      <a:prstDash val="solid"/>
                      <a:round/>
                      <a:headEnd type="none" w="med" len="med"/>
                      <a:tailEnd type="none" w="med" len="med"/>
                    </a:lnB>
                    <a:solidFill>
                      <a:srgbClr val="FFFFFF"/>
                    </a:solidFill>
                  </a:tcPr>
                </a:tc>
                <a:tc>
                  <a:txBody>
                    <a:bodyPr/>
                    <a:lstStyle/>
                    <a:p>
                      <a:pPr indent="0" marL="0">
                        <a:buNone/>
                      </a:pPr>
                      <a:r>
                        <a:rPr lang="en-US" sz="1350" dirty="0">
                          <a:solidFill>
                            <a:srgbClr val="1B2A24"/>
                          </a:solidFill>
                          <a:latin typeface="Calibri" pitchFamily="34" charset="0"/>
                          <a:ea typeface="Calibri" pitchFamily="34" charset="-122"/>
                          <a:cs typeface="Calibri" pitchFamily="34" charset="-120"/>
                        </a:rPr>
                        <a:t>Noteikt, kura summa ir patiesā</a:t>
                      </a:r>
                      <a:endParaRPr lang="en-US" sz="1350" dirty="0">
                        <a:latin typeface="Calibri" charset="0"/>
                        <a:ea typeface="Calibri" charset="0"/>
                        <a:cs typeface="Calibri" charset="0"/>
                      </a:endParaRPr>
                    </a:p>
                  </a:txBody>
                  <a:tcPr marL="91440" marR="91440" marT="45720" marB="45720" anchor="ctr">
                    <a:lnL w="12700" cap="flat" cmpd="sng" algn="ctr">
                      <a:solidFill>
                        <a:srgbClr val="E7DED0"/>
                      </a:solidFill>
                      <a:prstDash val="solid"/>
                      <a:round/>
                      <a:headEnd type="none" w="med" len="med"/>
                      <a:tailEnd type="none" w="med" len="med"/>
                    </a:lnL>
                    <a:lnR w="12700" cap="flat" cmpd="sng" algn="ctr">
                      <a:solidFill>
                        <a:srgbClr val="E7DED0"/>
                      </a:solidFill>
                      <a:prstDash val="solid"/>
                      <a:round/>
                      <a:headEnd type="none" w="med" len="med"/>
                      <a:tailEnd type="none" w="med" len="med"/>
                    </a:lnR>
                    <a:lnT w="12700" cap="flat" cmpd="sng" algn="ctr">
                      <a:solidFill>
                        <a:srgbClr val="E7DED0"/>
                      </a:solidFill>
                      <a:prstDash val="solid"/>
                      <a:round/>
                      <a:headEnd type="none" w="med" len="med"/>
                      <a:tailEnd type="none" w="med" len="med"/>
                    </a:lnT>
                    <a:lnB w="12700" cap="flat" cmpd="sng" algn="ctr">
                      <a:solidFill>
                        <a:srgbClr val="E7DED0"/>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4617720"/>
            <a:ext cx="11064240" cy="914400"/>
          </a:xfrm>
          <a:prstGeom prst="roundRect">
            <a:avLst>
              <a:gd name="adj" fmla="val 10000"/>
            </a:avLst>
          </a:prstGeom>
          <a:solidFill>
            <a:srgbClr val="E3EFE9"/>
          </a:solidFill>
          <a:ln w="12700">
            <a:solidFill>
              <a:srgbClr val="E7DED0"/>
            </a:solidFill>
            <a:prstDash val="solid"/>
          </a:ln>
        </p:spPr>
      </p:sp>
      <p:sp>
        <p:nvSpPr>
          <p:cNvPr id="6" name="Text 3"/>
          <p:cNvSpPr/>
          <p:nvPr/>
        </p:nvSpPr>
        <p:spPr>
          <a:xfrm>
            <a:off x="868680" y="4754880"/>
            <a:ext cx="10424160" cy="640080"/>
          </a:xfrm>
          <a:prstGeom prst="rect">
            <a:avLst/>
          </a:prstGeom>
          <a:noFill/>
          <a:ln/>
        </p:spPr>
        <p:txBody>
          <a:bodyPr wrap="square" lIns="0" tIns="0" rIns="0" bIns="0" rtlCol="0" anchor="ctr"/>
          <a:lstStyle/>
          <a:p>
            <a:pPr indent="0" marL="0">
              <a:buNone/>
            </a:pPr>
            <a:r>
              <a:rPr lang="en-US" sz="1450" b="1" dirty="0">
                <a:solidFill>
                  <a:srgbClr val="0E3B31"/>
                </a:solidFill>
                <a:latin typeface="Calibri" pitchFamily="34" charset="0"/>
                <a:ea typeface="Calibri" pitchFamily="34" charset="-122"/>
                <a:cs typeface="Calibri" pitchFamily="34" charset="-120"/>
              </a:rPr>
              <a:t>Divu nedēļu laikā iespējams iesniegt pilnu sarakstu ar konkrētiem paziņojumu identifikatoriem, lai kļūdas varētu izlabot pie avota.</a:t>
            </a:r>
            <a:endParaRPr lang="en-US" sz="1450" dirty="0"/>
          </a:p>
        </p:txBody>
      </p:sp>
      <p:sp>
        <p:nvSpPr>
          <p:cNvPr id="7" name="Text 4"/>
          <p:cNvSpPr/>
          <p:nvPr/>
        </p:nvSpPr>
        <p:spPr>
          <a:xfrm>
            <a:off x="548640" y="5669280"/>
            <a:ext cx="11064240" cy="457200"/>
          </a:xfrm>
          <a:prstGeom prst="rect">
            <a:avLst/>
          </a:prstGeom>
          <a:noFill/>
          <a:ln/>
        </p:spPr>
        <p:txBody>
          <a:bodyPr wrap="square" rtlCol="0" anchor="ctr"/>
          <a:lstStyle/>
          <a:p>
            <a:pPr indent="0" marL="0">
              <a:buNone/>
            </a:pPr>
            <a:r>
              <a:rPr lang="en-US" sz="1250" i="1" dirty="0">
                <a:solidFill>
                  <a:srgbClr val="6D645A"/>
                </a:solidFill>
                <a:latin typeface="Calibri" pitchFamily="34" charset="0"/>
                <a:ea typeface="Calibri" pitchFamily="34" charset="-122"/>
                <a:cs typeface="Calibri" pitchFamily="34" charset="-120"/>
              </a:rPr>
              <a:t>Atkārtotās publikācijās trūkst arī lauka, kas norādītu, kurš ieraksts aizstāj kuru. Sasaistes metodika ir izstrādāta un pieejama nodošanai.</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EFE6"/>
        </a:solidFill>
      </p:bgPr>
    </p:bg>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000" b="1" dirty="0">
                <a:solidFill>
                  <a:srgbClr val="1B2A24"/>
                </a:solidFill>
                <a:latin typeface="Cambria" pitchFamily="34" charset="0"/>
                <a:ea typeface="Cambria" pitchFamily="34" charset="-122"/>
                <a:cs typeface="Cambria" pitchFamily="34" charset="-120"/>
              </a:rPr>
              <a:t>Priekšlikumi pēc kompetences</a:t>
            </a:r>
            <a:endParaRPr lang="en-US" sz="3000" dirty="0"/>
          </a:p>
        </p:txBody>
      </p:sp>
      <p:sp>
        <p:nvSpPr>
          <p:cNvPr id="3" name="Text 1"/>
          <p:cNvSpPr/>
          <p:nvPr/>
        </p:nvSpPr>
        <p:spPr>
          <a:xfrm>
            <a:off x="548640" y="969264"/>
            <a:ext cx="11064240" cy="329184"/>
          </a:xfrm>
          <a:prstGeom prst="rect">
            <a:avLst/>
          </a:prstGeom>
          <a:noFill/>
          <a:ln/>
        </p:spPr>
        <p:txBody>
          <a:bodyPr wrap="square" lIns="0" tIns="0" rIns="0" bIns="0" rtlCol="0" anchor="ctr"/>
          <a:lstStyle/>
          <a:p>
            <a:pPr indent="0" marL="0">
              <a:buNone/>
            </a:pPr>
            <a:r>
              <a:rPr lang="en-US" sz="1400" dirty="0">
                <a:solidFill>
                  <a:srgbClr val="6D645A"/>
                </a:solidFill>
                <a:latin typeface="Calibri" pitchFamily="34" charset="0"/>
                <a:ea typeface="Calibri" pitchFamily="34" charset="-122"/>
                <a:cs typeface="Calibri" pitchFamily="34" charset="-120"/>
              </a:rPr>
              <a:t>Ne visi jautājumi ir vienas iestādes rokās.</a:t>
            </a:r>
            <a:endParaRPr lang="en-US" sz="1400" dirty="0"/>
          </a:p>
        </p:txBody>
      </p:sp>
      <p:sp>
        <p:nvSpPr>
          <p:cNvPr id="4" name="Shape 2"/>
          <p:cNvSpPr/>
          <p:nvPr/>
        </p:nvSpPr>
        <p:spPr>
          <a:xfrm>
            <a:off x="548640" y="1600200"/>
            <a:ext cx="3520440" cy="3520440"/>
          </a:xfrm>
          <a:prstGeom prst="roundRect">
            <a:avLst>
              <a:gd name="adj" fmla="val 2597"/>
            </a:avLst>
          </a:prstGeom>
          <a:solidFill>
            <a:srgbClr val="FFFFFF"/>
          </a:solidFill>
          <a:ln w="12700">
            <a:solidFill>
              <a:srgbClr val="E7DED0"/>
            </a:solidFill>
            <a:prstDash val="solid"/>
          </a:ln>
        </p:spPr>
      </p:sp>
      <p:sp>
        <p:nvSpPr>
          <p:cNvPr id="5" name="Shape 3"/>
          <p:cNvSpPr/>
          <p:nvPr/>
        </p:nvSpPr>
        <p:spPr>
          <a:xfrm>
            <a:off x="822960" y="1828800"/>
            <a:ext cx="310896" cy="310896"/>
          </a:xfrm>
          <a:prstGeom prst="ellipse">
            <a:avLst/>
          </a:prstGeom>
          <a:solidFill>
            <a:srgbClr val="0E3B31"/>
          </a:solidFill>
          <a:ln w="12700">
            <a:solidFill>
              <a:srgbClr val="0E3B31"/>
            </a:solidFill>
            <a:prstDash val="solid"/>
          </a:ln>
        </p:spPr>
      </p:sp>
      <p:sp>
        <p:nvSpPr>
          <p:cNvPr id="6" name="Text 4"/>
          <p:cNvSpPr/>
          <p:nvPr/>
        </p:nvSpPr>
        <p:spPr>
          <a:xfrm>
            <a:off x="822960" y="18288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5"/>
          <p:cNvSpPr/>
          <p:nvPr/>
        </p:nvSpPr>
        <p:spPr>
          <a:xfrm>
            <a:off x="1234440" y="1810512"/>
            <a:ext cx="2743200" cy="347472"/>
          </a:xfrm>
          <a:prstGeom prst="rect">
            <a:avLst/>
          </a:prstGeom>
          <a:noFill/>
          <a:ln/>
        </p:spPr>
        <p:txBody>
          <a:bodyPr wrap="square" lIns="0" tIns="0" rIns="0" bIns="0" rtlCol="0" anchor="ctr"/>
          <a:lstStyle/>
          <a:p>
            <a:pPr indent="0" marL="0">
              <a:buNone/>
            </a:pPr>
            <a:r>
              <a:rPr lang="en-US" sz="1450" b="1" dirty="0">
                <a:solidFill>
                  <a:srgbClr val="0E3B31"/>
                </a:solidFill>
                <a:latin typeface="Calibri" pitchFamily="34" charset="0"/>
                <a:ea typeface="Calibri" pitchFamily="34" charset="-122"/>
                <a:cs typeface="Calibri" pitchFamily="34" charset="-120"/>
              </a:rPr>
              <a:t>IUB kompetencē</a:t>
            </a:r>
            <a:endParaRPr lang="en-US" sz="1450" dirty="0"/>
          </a:p>
        </p:txBody>
      </p:sp>
      <p:sp>
        <p:nvSpPr>
          <p:cNvPr id="8" name="Text 6"/>
          <p:cNvSpPr/>
          <p:nvPr/>
        </p:nvSpPr>
        <p:spPr>
          <a:xfrm>
            <a:off x="822960" y="2286000"/>
            <a:ext cx="3017520" cy="274320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1B2A24"/>
                </a:solidFill>
                <a:latin typeface="Calibri" pitchFamily="34" charset="0"/>
                <a:ea typeface="Calibri" pitchFamily="34" charset="-122"/>
                <a:cs typeface="Calibri" pitchFamily="34" charset="-120"/>
              </a:rPr>
              <a:t>Publicēt karodziņus atvērtajos datos — mazākais slogs, lielākais ieguvums</a:t>
            </a:r>
            <a:endParaRPr lang="en-US" sz="1200" dirty="0"/>
          </a:p>
          <a:p>
            <a:pPr marL="342900" indent="-342900">
              <a:lnSpc>
                <a:spcPts val="1600"/>
              </a:lnSpc>
              <a:spcAft>
                <a:spcPts val="900"/>
              </a:spcAft>
              <a:buSzPct val="100000"/>
              <a:buChar char="•"/>
            </a:pPr>
            <a:r>
              <a:rPr lang="en-US" sz="1200" dirty="0">
                <a:solidFill>
                  <a:srgbClr val="1B2A24"/>
                </a:solidFill>
                <a:latin typeface="Calibri" pitchFamily="34" charset="0"/>
                <a:ea typeface="Calibri" pitchFamily="34" charset="-122"/>
                <a:cs typeface="Calibri" pitchFamily="34" charset="-120"/>
              </a:rPr>
              <a:t>Publicēt visus līguma grozījumus, tostarp pielikumus</a:t>
            </a:r>
            <a:endParaRPr lang="en-US" sz="1200" dirty="0"/>
          </a:p>
          <a:p>
            <a:pPr marL="342900" indent="-342900">
              <a:lnSpc>
                <a:spcPts val="1600"/>
              </a:lnSpc>
              <a:spcAft>
                <a:spcPts val="900"/>
              </a:spcAft>
              <a:buSzPct val="100000"/>
              <a:buChar char="•"/>
            </a:pPr>
            <a:r>
              <a:rPr lang="en-US" sz="1200" dirty="0">
                <a:solidFill>
                  <a:srgbClr val="1B2A24"/>
                </a:solidFill>
                <a:latin typeface="Calibri" pitchFamily="34" charset="0"/>
                <a:ea typeface="Calibri" pitchFamily="34" charset="-122"/>
                <a:cs typeface="Calibri" pitchFamily="34" charset="-120"/>
              </a:rPr>
              <a:t>Publicēt iepirkuma komisijas sastāvu un ekspertus — tikai vārdus, bez personas koda</a:t>
            </a:r>
            <a:endParaRPr lang="en-US" sz="1200" dirty="0"/>
          </a:p>
          <a:p>
            <a:pPr marL="342900" indent="-342900">
              <a:lnSpc>
                <a:spcPts val="1600"/>
              </a:lnSpc>
              <a:spcAft>
                <a:spcPts val="900"/>
              </a:spcAft>
              <a:buSzPct val="100000"/>
              <a:buChar char="•"/>
            </a:pPr>
            <a:r>
              <a:rPr lang="en-US" sz="1200" dirty="0">
                <a:solidFill>
                  <a:srgbClr val="1B2A24"/>
                </a:solidFill>
                <a:latin typeface="Calibri" pitchFamily="34" charset="0"/>
                <a:ea typeface="Calibri" pitchFamily="34" charset="-122"/>
                <a:cs typeface="Calibri" pitchFamily="34" charset="-120"/>
              </a:rPr>
              <a:t>Validēt uzvarētāja reģ. Nr. jau ievadē (399 līgumiem tas nav)</a:t>
            </a:r>
            <a:endParaRPr lang="en-US" sz="1200" dirty="0"/>
          </a:p>
          <a:p>
            <a:pPr marL="342900" indent="-342900">
              <a:lnSpc>
                <a:spcPts val="1600"/>
              </a:lnSpc>
              <a:spcAft>
                <a:spcPts val="900"/>
              </a:spcAft>
              <a:buSzPct val="100000"/>
              <a:buChar char="•"/>
            </a:pPr>
            <a:r>
              <a:rPr lang="en-US" sz="1200" dirty="0">
                <a:solidFill>
                  <a:srgbClr val="1B2A24"/>
                </a:solidFill>
                <a:latin typeface="Calibri" pitchFamily="34" charset="0"/>
                <a:ea typeface="Calibri" pitchFamily="34" charset="-122"/>
                <a:cs typeface="Calibri" pitchFamily="34" charset="-120"/>
              </a:rPr>
              <a:t>Ieviest paziņojuma versijas lauku</a:t>
            </a:r>
            <a:endParaRPr lang="en-US" sz="1200" dirty="0"/>
          </a:p>
        </p:txBody>
      </p:sp>
      <p:sp>
        <p:nvSpPr>
          <p:cNvPr id="9" name="Shape 7"/>
          <p:cNvSpPr/>
          <p:nvPr/>
        </p:nvSpPr>
        <p:spPr>
          <a:xfrm>
            <a:off x="4325112" y="1600200"/>
            <a:ext cx="3520440" cy="3520440"/>
          </a:xfrm>
          <a:prstGeom prst="roundRect">
            <a:avLst>
              <a:gd name="adj" fmla="val 2597"/>
            </a:avLst>
          </a:prstGeom>
          <a:solidFill>
            <a:srgbClr val="FFFFFF"/>
          </a:solidFill>
          <a:ln w="12700">
            <a:solidFill>
              <a:srgbClr val="E7DED0"/>
            </a:solidFill>
            <a:prstDash val="solid"/>
          </a:ln>
        </p:spPr>
      </p:sp>
      <p:sp>
        <p:nvSpPr>
          <p:cNvPr id="10" name="Shape 8"/>
          <p:cNvSpPr/>
          <p:nvPr/>
        </p:nvSpPr>
        <p:spPr>
          <a:xfrm>
            <a:off x="4599432" y="1828800"/>
            <a:ext cx="310896" cy="310896"/>
          </a:xfrm>
          <a:prstGeom prst="ellipse">
            <a:avLst/>
          </a:prstGeom>
          <a:solidFill>
            <a:srgbClr val="1F7A5F"/>
          </a:solidFill>
          <a:ln w="12700">
            <a:solidFill>
              <a:srgbClr val="1F7A5F"/>
            </a:solidFill>
            <a:prstDash val="solid"/>
          </a:ln>
        </p:spPr>
      </p:sp>
      <p:sp>
        <p:nvSpPr>
          <p:cNvPr id="11" name="Text 9"/>
          <p:cNvSpPr/>
          <p:nvPr/>
        </p:nvSpPr>
        <p:spPr>
          <a:xfrm>
            <a:off x="4599432" y="18288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2" name="Text 10"/>
          <p:cNvSpPr/>
          <p:nvPr/>
        </p:nvSpPr>
        <p:spPr>
          <a:xfrm>
            <a:off x="5010912" y="1810512"/>
            <a:ext cx="2743200" cy="347472"/>
          </a:xfrm>
          <a:prstGeom prst="rect">
            <a:avLst/>
          </a:prstGeom>
          <a:noFill/>
          <a:ln/>
        </p:spPr>
        <p:txBody>
          <a:bodyPr wrap="square" lIns="0" tIns="0" rIns="0" bIns="0" rtlCol="0" anchor="ctr"/>
          <a:lstStyle/>
          <a:p>
            <a:pPr indent="0" marL="0">
              <a:buNone/>
            </a:pPr>
            <a:r>
              <a:rPr lang="en-US" sz="1450" b="1" dirty="0">
                <a:solidFill>
                  <a:srgbClr val="1F7A5F"/>
                </a:solidFill>
                <a:latin typeface="Calibri" pitchFamily="34" charset="0"/>
                <a:ea typeface="Calibri" pitchFamily="34" charset="-122"/>
                <a:cs typeface="Calibri" pitchFamily="34" charset="-120"/>
              </a:rPr>
              <a:t>Kopā ar EIS pārzini</a:t>
            </a:r>
            <a:endParaRPr lang="en-US" sz="1450" dirty="0"/>
          </a:p>
        </p:txBody>
      </p:sp>
      <p:sp>
        <p:nvSpPr>
          <p:cNvPr id="13" name="Text 11"/>
          <p:cNvSpPr/>
          <p:nvPr/>
        </p:nvSpPr>
        <p:spPr>
          <a:xfrm>
            <a:off x="4599432" y="2286000"/>
            <a:ext cx="3017520" cy="274320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1B2A24"/>
                </a:solidFill>
                <a:latin typeface="Calibri" pitchFamily="34" charset="0"/>
                <a:ea typeface="Calibri" pitchFamily="34" charset="-122"/>
                <a:cs typeface="Calibri" pitchFamily="34" charset="-120"/>
              </a:rPr>
              <a:t>Pretendentu saraksti un kopējās cenas mašīnlasāmi</a:t>
            </a:r>
            <a:endParaRPr lang="en-US" sz="1200" dirty="0"/>
          </a:p>
          <a:p>
            <a:pPr marL="342900" indent="-342900">
              <a:lnSpc>
                <a:spcPts val="1600"/>
              </a:lnSpc>
              <a:spcAft>
                <a:spcPts val="900"/>
              </a:spcAft>
              <a:buSzPct val="100000"/>
              <a:buChar char="•"/>
            </a:pPr>
            <a:r>
              <a:rPr lang="en-US" sz="1200" dirty="0">
                <a:solidFill>
                  <a:srgbClr val="1B2A24"/>
                </a:solidFill>
                <a:latin typeface="Calibri" pitchFamily="34" charset="0"/>
                <a:ea typeface="Calibri" pitchFamily="34" charset="-122"/>
                <a:cs typeface="Calibri" pitchFamily="34" charset="-120"/>
              </a:rPr>
              <a:t>Vienots identifikators: paziņojums ↔ procedūra ↔ līgums ↔ ES projekts</a:t>
            </a:r>
            <a:endParaRPr lang="en-US" sz="1200" dirty="0"/>
          </a:p>
        </p:txBody>
      </p:sp>
      <p:sp>
        <p:nvSpPr>
          <p:cNvPr id="14" name="Shape 12"/>
          <p:cNvSpPr/>
          <p:nvPr/>
        </p:nvSpPr>
        <p:spPr>
          <a:xfrm>
            <a:off x="8101584" y="1600200"/>
            <a:ext cx="3520440" cy="3520440"/>
          </a:xfrm>
          <a:prstGeom prst="roundRect">
            <a:avLst>
              <a:gd name="adj" fmla="val 2597"/>
            </a:avLst>
          </a:prstGeom>
          <a:solidFill>
            <a:srgbClr val="FFFFFF"/>
          </a:solidFill>
          <a:ln w="12700">
            <a:solidFill>
              <a:srgbClr val="E7DED0"/>
            </a:solidFill>
            <a:prstDash val="solid"/>
          </a:ln>
        </p:spPr>
      </p:sp>
      <p:sp>
        <p:nvSpPr>
          <p:cNvPr id="15" name="Shape 13"/>
          <p:cNvSpPr/>
          <p:nvPr/>
        </p:nvSpPr>
        <p:spPr>
          <a:xfrm>
            <a:off x="8375904" y="1828800"/>
            <a:ext cx="310896" cy="310896"/>
          </a:xfrm>
          <a:prstGeom prst="ellipse">
            <a:avLst/>
          </a:prstGeom>
          <a:solidFill>
            <a:srgbClr val="B23420"/>
          </a:solidFill>
          <a:ln w="12700">
            <a:solidFill>
              <a:srgbClr val="B23420"/>
            </a:solidFill>
            <a:prstDash val="solid"/>
          </a:ln>
        </p:spPr>
      </p:sp>
      <p:sp>
        <p:nvSpPr>
          <p:cNvPr id="16" name="Text 14"/>
          <p:cNvSpPr/>
          <p:nvPr/>
        </p:nvSpPr>
        <p:spPr>
          <a:xfrm>
            <a:off x="8375904" y="18288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7" name="Text 15"/>
          <p:cNvSpPr/>
          <p:nvPr/>
        </p:nvSpPr>
        <p:spPr>
          <a:xfrm>
            <a:off x="8787384" y="1810512"/>
            <a:ext cx="2743200" cy="347472"/>
          </a:xfrm>
          <a:prstGeom prst="rect">
            <a:avLst/>
          </a:prstGeom>
          <a:noFill/>
          <a:ln/>
        </p:spPr>
        <p:txBody>
          <a:bodyPr wrap="square" lIns="0" tIns="0" rIns="0" bIns="0" rtlCol="0" anchor="ctr"/>
          <a:lstStyle/>
          <a:p>
            <a:pPr indent="0" marL="0">
              <a:buNone/>
            </a:pPr>
            <a:r>
              <a:rPr lang="en-US" sz="1450" b="1" dirty="0">
                <a:solidFill>
                  <a:srgbClr val="B23420"/>
                </a:solidFill>
                <a:latin typeface="Calibri" pitchFamily="34" charset="0"/>
                <a:ea typeface="Calibri" pitchFamily="34" charset="-122"/>
                <a:cs typeface="Calibri" pitchFamily="34" charset="-120"/>
              </a:rPr>
              <a:t>Finanšu ministrijai</a:t>
            </a:r>
            <a:endParaRPr lang="en-US" sz="1450" dirty="0"/>
          </a:p>
        </p:txBody>
      </p:sp>
      <p:sp>
        <p:nvSpPr>
          <p:cNvPr id="18" name="Text 16"/>
          <p:cNvSpPr/>
          <p:nvPr/>
        </p:nvSpPr>
        <p:spPr>
          <a:xfrm>
            <a:off x="8375904" y="2286000"/>
            <a:ext cx="3017520" cy="274320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1B2A24"/>
                </a:solidFill>
                <a:latin typeface="Calibri" pitchFamily="34" charset="0"/>
                <a:ea typeface="Calibri" pitchFamily="34" charset="-122"/>
                <a:cs typeface="Calibri" pitchFamily="34" charset="-120"/>
              </a:rPr>
              <a:t>Zemsliekšņa iepirkumi: 97 % ir zem 10 000 eiro — likums neprasa publicēt</a:t>
            </a:r>
            <a:endParaRPr lang="en-US" sz="1200" dirty="0"/>
          </a:p>
          <a:p>
            <a:pPr marL="342900" indent="-342900">
              <a:lnSpc>
                <a:spcPts val="1600"/>
              </a:lnSpc>
              <a:spcAft>
                <a:spcPts val="900"/>
              </a:spcAft>
              <a:buSzPct val="100000"/>
              <a:buChar char="•"/>
            </a:pPr>
            <a:r>
              <a:rPr lang="en-US" sz="1200" dirty="0">
                <a:solidFill>
                  <a:srgbClr val="1B2A24"/>
                </a:solidFill>
                <a:latin typeface="Calibri" pitchFamily="34" charset="0"/>
                <a:ea typeface="Calibri" pitchFamily="34" charset="-122"/>
                <a:cs typeface="Calibri" pitchFamily="34" charset="-120"/>
              </a:rPr>
              <a:t>Bet 122 gadījumos viens piegādātājs, daudz līgumu vienā projektā</a:t>
            </a:r>
            <a:endParaRPr lang="en-US" sz="1200" dirty="0"/>
          </a:p>
          <a:p>
            <a:pPr marL="342900" indent="-342900">
              <a:lnSpc>
                <a:spcPts val="1600"/>
              </a:lnSpc>
              <a:spcAft>
                <a:spcPts val="900"/>
              </a:spcAft>
              <a:buSzPct val="100000"/>
              <a:buChar char="•"/>
            </a:pPr>
            <a:r>
              <a:rPr lang="en-US" sz="1200" dirty="0">
                <a:solidFill>
                  <a:srgbClr val="1B2A24"/>
                </a:solidFill>
                <a:latin typeface="Calibri" pitchFamily="34" charset="0"/>
                <a:ea typeface="Calibri" pitchFamily="34" charset="-122"/>
                <a:cs typeface="Calibri" pitchFamily="34" charset="-120"/>
              </a:rPr>
              <a:t>Vai vajadzīgs vienkāršs ikgadējs apkopojums?</a:t>
            </a:r>
            <a:endParaRPr lang="en-US" sz="1200" dirty="0"/>
          </a:p>
          <a:p>
            <a:pPr marL="342900" indent="-342900">
              <a:lnSpc>
                <a:spcPts val="1600"/>
              </a:lnSpc>
              <a:spcAft>
                <a:spcPts val="900"/>
              </a:spcAft>
              <a:buSzPct val="100000"/>
              <a:buChar char="•"/>
            </a:pPr>
            <a:r>
              <a:rPr lang="en-US" sz="1200" dirty="0">
                <a:solidFill>
                  <a:srgbClr val="1B2A24"/>
                </a:solidFill>
                <a:latin typeface="Calibri" pitchFamily="34" charset="0"/>
                <a:ea typeface="Calibri" pitchFamily="34" charset="-122"/>
                <a:cs typeface="Calibri" pitchFamily="34" charset="-120"/>
              </a:rPr>
              <a:t>PEP reģistrs (VID) mašīnlasāms — jau pārbaude atrod 3/100 deputātu vārdu sakritības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EFE6"/>
        </a:solidFill>
      </p:bgPr>
    </p:bg>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000" b="1" dirty="0">
                <a:solidFill>
                  <a:srgbClr val="1B2A24"/>
                </a:solidFill>
                <a:latin typeface="Cambria" pitchFamily="34" charset="0"/>
                <a:ea typeface="Cambria" pitchFamily="34" charset="-122"/>
                <a:cs typeface="Cambria" pitchFamily="34" charset="-120"/>
              </a:rPr>
              <a:t>Politiski nozīmīgas personas — un kur ir robs</a:t>
            </a:r>
            <a:endParaRPr lang="en-US" sz="3000" dirty="0"/>
          </a:p>
        </p:txBody>
      </p:sp>
      <p:sp>
        <p:nvSpPr>
          <p:cNvPr id="3" name="Text 1"/>
          <p:cNvSpPr/>
          <p:nvPr/>
        </p:nvSpPr>
        <p:spPr>
          <a:xfrm>
            <a:off x="548640" y="969264"/>
            <a:ext cx="11064240" cy="329184"/>
          </a:xfrm>
          <a:prstGeom prst="rect">
            <a:avLst/>
          </a:prstGeom>
          <a:noFill/>
          <a:ln/>
        </p:spPr>
        <p:txBody>
          <a:bodyPr wrap="square" lIns="0" tIns="0" rIns="0" bIns="0" rtlCol="0" anchor="ctr"/>
          <a:lstStyle/>
          <a:p>
            <a:pPr indent="0" marL="0">
              <a:buNone/>
            </a:pPr>
            <a:r>
              <a:rPr lang="en-US" sz="1400" dirty="0">
                <a:solidFill>
                  <a:srgbClr val="6D645A"/>
                </a:solidFill>
                <a:latin typeface="Calibri" pitchFamily="34" charset="0"/>
                <a:ea typeface="Calibri" pitchFamily="34" charset="-122"/>
                <a:cs typeface="Calibri" pitchFamily="34" charset="-120"/>
              </a:rPr>
              <a:t>Vārda sakritība nav pierādījums. Neviena persona šeit nav nosaukta.</a:t>
            </a:r>
            <a:endParaRPr lang="en-US" sz="1400" dirty="0"/>
          </a:p>
        </p:txBody>
      </p:sp>
      <p:sp>
        <p:nvSpPr>
          <p:cNvPr id="4" name="Shape 2"/>
          <p:cNvSpPr/>
          <p:nvPr/>
        </p:nvSpPr>
        <p:spPr>
          <a:xfrm>
            <a:off x="548640" y="1600200"/>
            <a:ext cx="5394960" cy="3246120"/>
          </a:xfrm>
          <a:prstGeom prst="roundRect">
            <a:avLst>
              <a:gd name="adj" fmla="val 2817"/>
            </a:avLst>
          </a:prstGeom>
          <a:solidFill>
            <a:srgbClr val="E3EFE9"/>
          </a:solidFill>
          <a:ln w="12700">
            <a:solidFill>
              <a:srgbClr val="E7DED0"/>
            </a:solidFill>
            <a:prstDash val="solid"/>
          </a:ln>
        </p:spPr>
      </p:sp>
      <p:sp>
        <p:nvSpPr>
          <p:cNvPr id="5" name="Text 3"/>
          <p:cNvSpPr/>
          <p:nvPr/>
        </p:nvSpPr>
        <p:spPr>
          <a:xfrm>
            <a:off x="868680" y="1828800"/>
            <a:ext cx="4754880" cy="320040"/>
          </a:xfrm>
          <a:prstGeom prst="rect">
            <a:avLst/>
          </a:prstGeom>
          <a:noFill/>
          <a:ln/>
        </p:spPr>
        <p:txBody>
          <a:bodyPr wrap="square" rtlCol="0" anchor="ctr"/>
          <a:lstStyle/>
          <a:p>
            <a:pPr indent="0" marL="0">
              <a:buNone/>
            </a:pPr>
            <a:r>
              <a:rPr lang="en-US" sz="1200" b="1" spc="100" kern="0" dirty="0">
                <a:solidFill>
                  <a:srgbClr val="1F7A5F"/>
                </a:solidFill>
                <a:latin typeface="Calibri" pitchFamily="34" charset="0"/>
                <a:ea typeface="Calibri" pitchFamily="34" charset="-122"/>
                <a:cs typeface="Calibri" pitchFamily="34" charset="-120"/>
              </a:rPr>
              <a:t>KO JAU VARAM</a:t>
            </a:r>
            <a:endParaRPr lang="en-US" sz="1200" dirty="0"/>
          </a:p>
        </p:txBody>
      </p:sp>
      <p:sp>
        <p:nvSpPr>
          <p:cNvPr id="6" name="Text 4"/>
          <p:cNvSpPr/>
          <p:nvPr/>
        </p:nvSpPr>
        <p:spPr>
          <a:xfrm>
            <a:off x="868680" y="2286000"/>
            <a:ext cx="4754880" cy="2377440"/>
          </a:xfrm>
          <a:prstGeom prst="rect">
            <a:avLst/>
          </a:prstGeom>
          <a:noFill/>
          <a:ln/>
        </p:spPr>
        <p:txBody>
          <a:bodyPr wrap="square" lIns="0" tIns="0" rIns="0" bIns="0" rtlCol="0" anchor="t"/>
          <a:lstStyle/>
          <a:p>
            <a:pPr marL="342900" indent="-342900">
              <a:lnSpc>
                <a:spcPts val="1800"/>
              </a:lnSpc>
              <a:spcAft>
                <a:spcPts val="1000"/>
              </a:spcAft>
              <a:buSzPct val="100000"/>
              <a:buChar char="•"/>
            </a:pPr>
            <a:r>
              <a:rPr lang="en-US" sz="1350" dirty="0">
                <a:solidFill>
                  <a:srgbClr val="1B2A24"/>
                </a:solidFill>
                <a:latin typeface="Calibri" pitchFamily="34" charset="0"/>
                <a:ea typeface="Calibri" pitchFamily="34" charset="-122"/>
                <a:cs typeface="Calibri" pitchFamily="34" charset="-120"/>
              </a:rPr>
              <a:t>Salīdzināt iepirkumu firmu īpašniekus ar amatpersonām — Ministru kabinets, Saeima, EP deputāti (CVK atvērtie dati)</a:t>
            </a:r>
            <a:endParaRPr lang="en-US" sz="1350" dirty="0"/>
          </a:p>
          <a:p>
            <a:pPr marL="342900" indent="-342900">
              <a:lnSpc>
                <a:spcPts val="1800"/>
              </a:lnSpc>
              <a:spcAft>
                <a:spcPts val="1000"/>
              </a:spcAft>
              <a:buSzPct val="100000"/>
              <a:buChar char="•"/>
            </a:pPr>
            <a:r>
              <a:rPr lang="en-US" sz="1350" dirty="0">
                <a:solidFill>
                  <a:srgbClr val="1B2A24"/>
                </a:solidFill>
                <a:latin typeface="Calibri" pitchFamily="34" charset="0"/>
                <a:ea typeface="Calibri" pitchFamily="34" charset="-122"/>
                <a:cs typeface="Calibri" pitchFamily="34" charset="-120"/>
              </a:rPr>
              <a:t>Atzīmēt sakritību ar godīgu atrunu un saiti pārbaudei</a:t>
            </a:r>
            <a:endParaRPr lang="en-US" sz="1350" dirty="0"/>
          </a:p>
          <a:p>
            <a:pPr marL="342900" indent="-342900">
              <a:lnSpc>
                <a:spcPts val="1800"/>
              </a:lnSpc>
              <a:spcAft>
                <a:spcPts val="1000"/>
              </a:spcAft>
              <a:buSzPct val="100000"/>
              <a:buChar char="•"/>
            </a:pPr>
            <a:r>
              <a:rPr lang="en-US" sz="1350" dirty="0">
                <a:solidFill>
                  <a:srgbClr val="1B2A24"/>
                </a:solidFill>
                <a:latin typeface="Calibri" pitchFamily="34" charset="0"/>
                <a:ea typeface="Calibri" pitchFamily="34" charset="-122"/>
                <a:cs typeface="Calibri" pitchFamily="34" charset="-120"/>
              </a:rPr>
              <a:t>Redzēt strukturālas saiknes: kopīgs īpašnieks vai holdings</a:t>
            </a:r>
            <a:endParaRPr lang="en-US" sz="1350" dirty="0"/>
          </a:p>
        </p:txBody>
      </p:sp>
      <p:sp>
        <p:nvSpPr>
          <p:cNvPr id="7" name="Shape 5"/>
          <p:cNvSpPr/>
          <p:nvPr/>
        </p:nvSpPr>
        <p:spPr>
          <a:xfrm>
            <a:off x="6263640" y="1600200"/>
            <a:ext cx="5349240" cy="3246120"/>
          </a:xfrm>
          <a:prstGeom prst="roundRect">
            <a:avLst>
              <a:gd name="adj" fmla="val 2817"/>
            </a:avLst>
          </a:prstGeom>
          <a:solidFill>
            <a:srgbClr val="FBE2DD"/>
          </a:solidFill>
          <a:ln w="12700">
            <a:solidFill>
              <a:srgbClr val="E7DED0"/>
            </a:solidFill>
            <a:prstDash val="solid"/>
          </a:ln>
        </p:spPr>
      </p:sp>
      <p:sp>
        <p:nvSpPr>
          <p:cNvPr id="8" name="Text 6"/>
          <p:cNvSpPr/>
          <p:nvPr/>
        </p:nvSpPr>
        <p:spPr>
          <a:xfrm>
            <a:off x="6583680" y="1828800"/>
            <a:ext cx="4846320" cy="320040"/>
          </a:xfrm>
          <a:prstGeom prst="rect">
            <a:avLst/>
          </a:prstGeom>
          <a:noFill/>
          <a:ln/>
        </p:spPr>
        <p:txBody>
          <a:bodyPr wrap="square" rtlCol="0" anchor="ctr"/>
          <a:lstStyle/>
          <a:p>
            <a:pPr indent="0" marL="0">
              <a:buNone/>
            </a:pPr>
            <a:r>
              <a:rPr lang="en-US" sz="1200" b="1" spc="100" kern="0" dirty="0">
                <a:solidFill>
                  <a:srgbClr val="B23420"/>
                </a:solidFill>
                <a:latin typeface="Calibri" pitchFamily="34" charset="0"/>
                <a:ea typeface="Calibri" pitchFamily="34" charset="-122"/>
                <a:cs typeface="Calibri" pitchFamily="34" charset="-120"/>
              </a:rPr>
              <a:t>KO NEVARAM — UN KUR IR RISKS</a:t>
            </a:r>
            <a:endParaRPr lang="en-US" sz="1200" dirty="0"/>
          </a:p>
        </p:txBody>
      </p:sp>
      <p:sp>
        <p:nvSpPr>
          <p:cNvPr id="9" name="Text 7"/>
          <p:cNvSpPr/>
          <p:nvPr/>
        </p:nvSpPr>
        <p:spPr>
          <a:xfrm>
            <a:off x="6583680" y="2286000"/>
            <a:ext cx="4754880" cy="2377440"/>
          </a:xfrm>
          <a:prstGeom prst="rect">
            <a:avLst/>
          </a:prstGeom>
          <a:noFill/>
          <a:ln/>
        </p:spPr>
        <p:txBody>
          <a:bodyPr wrap="square" lIns="0" tIns="0" rIns="0" bIns="0" rtlCol="0" anchor="t"/>
          <a:lstStyle/>
          <a:p>
            <a:pPr marL="342900" indent="-342900">
              <a:lnSpc>
                <a:spcPts val="1800"/>
              </a:lnSpc>
              <a:spcAft>
                <a:spcPts val="1000"/>
              </a:spcAft>
              <a:buSzPct val="100000"/>
              <a:buChar char="•"/>
            </a:pPr>
            <a:r>
              <a:rPr lang="en-US" sz="1350" dirty="0">
                <a:solidFill>
                  <a:srgbClr val="1B2A24"/>
                </a:solidFill>
                <a:latin typeface="Calibri" pitchFamily="34" charset="0"/>
                <a:ea typeface="Calibri" pitchFamily="34" charset="-122"/>
                <a:cs typeface="Calibri" pitchFamily="34" charset="-120"/>
              </a:rPr>
              <a:t>Amatpersonu RADINIEKU un darījumu partneru firmas — tieši tur slēpjas lielākais risks</a:t>
            </a:r>
            <a:endParaRPr lang="en-US" sz="1350" dirty="0"/>
          </a:p>
          <a:p>
            <a:pPr marL="342900" indent="-342900">
              <a:lnSpc>
                <a:spcPts val="1800"/>
              </a:lnSpc>
              <a:spcAft>
                <a:spcPts val="1000"/>
              </a:spcAft>
              <a:buSzPct val="100000"/>
              <a:buChar char="•"/>
            </a:pPr>
            <a:r>
              <a:rPr lang="en-US" sz="1350" dirty="0">
                <a:solidFill>
                  <a:srgbClr val="1B2A24"/>
                </a:solidFill>
                <a:latin typeface="Calibri" pitchFamily="34" charset="0"/>
                <a:ea typeface="Calibri" pitchFamily="34" charset="-122"/>
                <a:cs typeface="Calibri" pitchFamily="34" charset="-120"/>
              </a:rPr>
              <a:t>Pilns PEP loks ar personas kodu (bez vārdamāsu kļūdām)</a:t>
            </a:r>
            <a:endParaRPr lang="en-US" sz="1350" dirty="0"/>
          </a:p>
          <a:p>
            <a:pPr marL="342900" indent="-342900">
              <a:lnSpc>
                <a:spcPts val="1800"/>
              </a:lnSpc>
              <a:spcAft>
                <a:spcPts val="1000"/>
              </a:spcAft>
              <a:buSzPct val="100000"/>
              <a:buChar char="•"/>
            </a:pPr>
            <a:r>
              <a:rPr lang="en-US" sz="1350" dirty="0">
                <a:solidFill>
                  <a:srgbClr val="1B2A24"/>
                </a:solidFill>
                <a:latin typeface="Calibri" pitchFamily="34" charset="0"/>
                <a:ea typeface="Calibri" pitchFamily="34" charset="-122"/>
                <a:cs typeface="Calibri" pitchFamily="34" charset="-120"/>
              </a:rPr>
              <a:t>Valsts sekretāri, iestāžu un kapitālsabiedrību vadītāji, pašvaldību deputāti</a:t>
            </a:r>
            <a:endParaRPr lang="en-US" sz="1350" dirty="0"/>
          </a:p>
        </p:txBody>
      </p:sp>
      <p:sp>
        <p:nvSpPr>
          <p:cNvPr id="10" name="Shape 8"/>
          <p:cNvSpPr/>
          <p:nvPr/>
        </p:nvSpPr>
        <p:spPr>
          <a:xfrm>
            <a:off x="548640" y="5029200"/>
            <a:ext cx="11064240" cy="1143000"/>
          </a:xfrm>
          <a:prstGeom prst="roundRect">
            <a:avLst>
              <a:gd name="adj" fmla="val 8000"/>
            </a:avLst>
          </a:prstGeom>
          <a:solidFill>
            <a:srgbClr val="FFFFFF"/>
          </a:solidFill>
          <a:ln w="12700">
            <a:solidFill>
              <a:srgbClr val="E7DED0"/>
            </a:solidFill>
            <a:prstDash val="solid"/>
          </a:ln>
        </p:spPr>
      </p:sp>
      <p:sp>
        <p:nvSpPr>
          <p:cNvPr id="11" name="Text 9"/>
          <p:cNvSpPr/>
          <p:nvPr/>
        </p:nvSpPr>
        <p:spPr>
          <a:xfrm>
            <a:off x="868680" y="5138928"/>
            <a:ext cx="10424160" cy="914400"/>
          </a:xfrm>
          <a:prstGeom prst="rect">
            <a:avLst/>
          </a:prstGeom>
          <a:noFill/>
          <a:ln/>
        </p:spPr>
        <p:txBody>
          <a:bodyPr wrap="square" lIns="0" tIns="0" rIns="0" bIns="0" rtlCol="0" anchor="ctr"/>
          <a:lstStyle/>
          <a:p>
            <a:pPr indent="0" marL="0">
              <a:lnSpc>
                <a:spcPts val="1800"/>
              </a:lnSpc>
              <a:buNone/>
            </a:pPr>
            <a:r>
              <a:rPr lang="en-US" sz="1400" b="1" dirty="0">
                <a:solidFill>
                  <a:srgbClr val="B23420"/>
                </a:solidFill>
                <a:latin typeface="Calibri" pitchFamily="34" charset="0"/>
                <a:ea typeface="Calibri" pitchFamily="34" charset="-122"/>
                <a:cs typeface="Calibri" pitchFamily="34" charset="-120"/>
              </a:rPr>
              <a:t>Kāpēc nevaram: </a:t>
            </a:r>
            <a:pPr indent="0" marL="0">
              <a:lnSpc>
                <a:spcPts val="1800"/>
              </a:lnSpc>
              <a:buNone/>
            </a:pPr>
            <a:r>
              <a:rPr lang="en-US" sz="1400" dirty="0">
                <a:solidFill>
                  <a:srgbClr val="1B2A24"/>
                </a:solidFill>
                <a:latin typeface="Calibri" pitchFamily="34" charset="0"/>
                <a:ea typeface="Calibri" pitchFamily="34" charset="-122"/>
                <a:cs typeface="Calibri" pitchFamily="34" charset="-120"/>
              </a:rPr>
              <a:t>ne VID politiski nozīmīgu personu reģistrs, ne amatpersonu deklarācijas nav pieejamas mašīnlasāmā, atkalizmantojamā formā — tikai meklēšana pa vienam, ar personas kodu. Uzminēt radinieku pēc uzvārda būtu apmelojums, tāpēc to nedarām. Šo saikni šobrīd nevar redzēt neviens ārpus KNAB.</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3B31"/>
        </a:solidFill>
      </p:bgPr>
    </p:bg>
    <p:spTree>
      <p:nvGrpSpPr>
        <p:cNvPr id="1" name=""/>
        <p:cNvGrpSpPr/>
        <p:nvPr/>
      </p:nvGrpSpPr>
      <p:grpSpPr>
        <a:xfrm>
          <a:off x="0" y="0"/>
          <a:ext cx="0" cy="0"/>
          <a:chOff x="0" y="0"/>
          <a:chExt cx="0" cy="0"/>
        </a:xfrm>
      </p:grpSpPr>
      <p:sp>
        <p:nvSpPr>
          <p:cNvPr id="2" name="Text 0"/>
          <p:cNvSpPr/>
          <p:nvPr/>
        </p:nvSpPr>
        <p:spPr>
          <a:xfrm>
            <a:off x="731520" y="731520"/>
            <a:ext cx="1060704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Ko piedāvāju un ko jautāju</a:t>
            </a:r>
            <a:endParaRPr lang="en-US" sz="3200" dirty="0"/>
          </a:p>
        </p:txBody>
      </p:sp>
      <p:sp>
        <p:nvSpPr>
          <p:cNvPr id="3" name="Text 1"/>
          <p:cNvSpPr/>
          <p:nvPr/>
        </p:nvSpPr>
        <p:spPr>
          <a:xfrm>
            <a:off x="731520" y="2148840"/>
            <a:ext cx="512064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Ko piedāvāju nodot — bez atlīdzības</a:t>
            </a:r>
            <a:endParaRPr lang="en-US" sz="1400" dirty="0"/>
          </a:p>
        </p:txBody>
      </p:sp>
      <p:sp>
        <p:nvSpPr>
          <p:cNvPr id="4" name="Text 2"/>
          <p:cNvSpPr/>
          <p:nvPr/>
        </p:nvSpPr>
        <p:spPr>
          <a:xfrm>
            <a:off x="731520" y="2606040"/>
            <a:ext cx="5120640" cy="2377440"/>
          </a:xfrm>
          <a:prstGeom prst="rect">
            <a:avLst/>
          </a:prstGeom>
          <a:noFill/>
          <a:ln/>
        </p:spPr>
        <p:txBody>
          <a:bodyPr wrap="square" lIns="0" tIns="0" rIns="0" bIns="0" rtlCol="0" anchor="t"/>
          <a:lstStyle/>
          <a:p>
            <a:pPr marL="342900" indent="-342900">
              <a:lnSpc>
                <a:spcPts val="1900"/>
              </a:lnSpc>
              <a:spcAft>
                <a:spcPts val="1000"/>
              </a:spcAft>
              <a:buSzPct val="100000"/>
              <a:buChar char="•"/>
            </a:pPr>
            <a:r>
              <a:rPr lang="en-US" sz="1400" dirty="0">
                <a:solidFill>
                  <a:srgbClr val="DCEDE4"/>
                </a:solidFill>
                <a:latin typeface="Calibri" pitchFamily="34" charset="0"/>
                <a:ea typeface="Calibri" pitchFamily="34" charset="-122"/>
                <a:cs typeface="Calibri" pitchFamily="34" charset="-120"/>
              </a:rPr>
              <a:t>Datu kļūdu saraksts ar paziņojumu identifikatoriem</a:t>
            </a:r>
            <a:endParaRPr lang="en-US" sz="1400" dirty="0"/>
          </a:p>
          <a:p>
            <a:pPr marL="342900" indent="-342900">
              <a:lnSpc>
                <a:spcPts val="1900"/>
              </a:lnSpc>
              <a:spcAft>
                <a:spcPts val="1000"/>
              </a:spcAft>
              <a:buSzPct val="100000"/>
              <a:buChar char="•"/>
            </a:pPr>
            <a:r>
              <a:rPr lang="en-US" sz="1400" dirty="0">
                <a:solidFill>
                  <a:srgbClr val="DCEDE4"/>
                </a:solidFill>
                <a:latin typeface="Calibri" pitchFamily="34" charset="0"/>
                <a:ea typeface="Calibri" pitchFamily="34" charset="-122"/>
                <a:cs typeface="Calibri" pitchFamily="34" charset="-120"/>
              </a:rPr>
              <a:t>Metodika atkārtoti publicēto paziņojumu sasaistei</a:t>
            </a:r>
            <a:endParaRPr lang="en-US" sz="1400" dirty="0"/>
          </a:p>
          <a:p>
            <a:pPr marL="342900" indent="-342900">
              <a:lnSpc>
                <a:spcPts val="1900"/>
              </a:lnSpc>
              <a:spcAft>
                <a:spcPts val="1000"/>
              </a:spcAft>
              <a:buSzPct val="100000"/>
              <a:buChar char="•"/>
            </a:pPr>
            <a:r>
              <a:rPr lang="en-US" sz="1400" dirty="0">
                <a:solidFill>
                  <a:srgbClr val="DCEDE4"/>
                </a:solidFill>
                <a:latin typeface="Calibri" pitchFamily="34" charset="0"/>
                <a:ea typeface="Calibri" pitchFamily="34" charset="-122"/>
                <a:cs typeface="Calibri" pitchFamily="34" charset="-120"/>
              </a:rPr>
              <a:t>Visas riska rādītāju definīcijas — pārbaudei un kritikai</a:t>
            </a:r>
            <a:endParaRPr lang="en-US" sz="1400" dirty="0"/>
          </a:p>
          <a:p>
            <a:pPr marL="342900" indent="-342900">
              <a:lnSpc>
                <a:spcPts val="1900"/>
              </a:lnSpc>
              <a:spcAft>
                <a:spcPts val="1000"/>
              </a:spcAft>
              <a:buSzPct val="100000"/>
              <a:buChar char="•"/>
            </a:pPr>
            <a:r>
              <a:rPr lang="en-US" sz="1400" dirty="0">
                <a:solidFill>
                  <a:srgbClr val="DCEDE4"/>
                </a:solidFill>
                <a:latin typeface="Calibri" pitchFamily="34" charset="0"/>
                <a:ea typeface="Calibri" pitchFamily="34" charset="-122"/>
                <a:cs typeface="Calibri" pitchFamily="34" charset="-120"/>
              </a:rPr>
              <a:t>Dalība jaunu datu kopu testēšanā</a:t>
            </a:r>
            <a:endParaRPr lang="en-US" sz="1400" dirty="0"/>
          </a:p>
        </p:txBody>
      </p:sp>
      <p:sp>
        <p:nvSpPr>
          <p:cNvPr id="5" name="Text 3"/>
          <p:cNvSpPr/>
          <p:nvPr/>
        </p:nvSpPr>
        <p:spPr>
          <a:xfrm>
            <a:off x="6400800" y="2148840"/>
            <a:ext cx="512064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Jautājumi jums</a:t>
            </a:r>
            <a:endParaRPr lang="en-US" sz="1400" dirty="0"/>
          </a:p>
        </p:txBody>
      </p:sp>
      <p:sp>
        <p:nvSpPr>
          <p:cNvPr id="6" name="Text 4"/>
          <p:cNvSpPr/>
          <p:nvPr/>
        </p:nvSpPr>
        <p:spPr>
          <a:xfrm>
            <a:off x="6400800" y="2606040"/>
            <a:ext cx="5120640" cy="2377440"/>
          </a:xfrm>
          <a:prstGeom prst="rect">
            <a:avLst/>
          </a:prstGeom>
          <a:noFill/>
          <a:ln/>
        </p:spPr>
        <p:txBody>
          <a:bodyPr wrap="square" lIns="0" tIns="0" rIns="0" bIns="0" rtlCol="0" anchor="t"/>
          <a:lstStyle/>
          <a:p>
            <a:pPr marL="342900" indent="-342900">
              <a:lnSpc>
                <a:spcPts val="1900"/>
              </a:lnSpc>
              <a:spcAft>
                <a:spcPts val="1000"/>
              </a:spcAft>
              <a:buSzPct val="100000"/>
              <a:buChar char="•"/>
            </a:pPr>
            <a:r>
              <a:rPr lang="en-US" sz="1400" dirty="0">
                <a:solidFill>
                  <a:srgbClr val="DCEDE4"/>
                </a:solidFill>
                <a:latin typeface="Calibri" pitchFamily="34" charset="0"/>
                <a:ea typeface="Calibri" pitchFamily="34" charset="-122"/>
                <a:cs typeface="Calibri" pitchFamily="34" charset="-120"/>
              </a:rPr>
              <a:t>Kāds ieguldījums no manis būtu visnoderīgākais?</a:t>
            </a:r>
            <a:endParaRPr lang="en-US" sz="1400" dirty="0"/>
          </a:p>
          <a:p>
            <a:pPr marL="342900" indent="-342900">
              <a:lnSpc>
                <a:spcPts val="1900"/>
              </a:lnSpc>
              <a:spcAft>
                <a:spcPts val="1000"/>
              </a:spcAft>
              <a:buSzPct val="100000"/>
              <a:buChar char="•"/>
            </a:pPr>
            <a:r>
              <a:rPr lang="en-US" sz="1400" dirty="0">
                <a:solidFill>
                  <a:srgbClr val="DCEDE4"/>
                </a:solidFill>
                <a:latin typeface="Calibri" pitchFamily="34" charset="0"/>
                <a:ea typeface="Calibri" pitchFamily="34" charset="-122"/>
                <a:cs typeface="Calibri" pitchFamily="34" charset="-120"/>
              </a:rPr>
              <a:t>Vai piedāvājumu cenas tiek saglabātas strukturēti?</a:t>
            </a:r>
            <a:endParaRPr lang="en-US" sz="1400" dirty="0"/>
          </a:p>
          <a:p>
            <a:pPr marL="342900" indent="-342900">
              <a:lnSpc>
                <a:spcPts val="1900"/>
              </a:lnSpc>
              <a:spcAft>
                <a:spcPts val="1000"/>
              </a:spcAft>
              <a:buSzPct val="100000"/>
              <a:buChar char="•"/>
            </a:pPr>
            <a:r>
              <a:rPr lang="en-US" sz="1400" dirty="0">
                <a:solidFill>
                  <a:srgbClr val="DCEDE4"/>
                </a:solidFill>
                <a:latin typeface="Calibri" pitchFamily="34" charset="0"/>
                <a:ea typeface="Calibri" pitchFamily="34" charset="-122"/>
                <a:cs typeface="Calibri" pitchFamily="34" charset="-120"/>
              </a:rPr>
              <a:t>Vai karodziņu publicēšana atvērtajos datos ir plānota?</a:t>
            </a:r>
            <a:endParaRPr lang="en-US" sz="1400" dirty="0"/>
          </a:p>
          <a:p>
            <a:pPr marL="342900" indent="-342900">
              <a:lnSpc>
                <a:spcPts val="1900"/>
              </a:lnSpc>
              <a:spcAft>
                <a:spcPts val="1000"/>
              </a:spcAft>
              <a:buSzPct val="100000"/>
              <a:buChar char="•"/>
            </a:pPr>
            <a:r>
              <a:rPr lang="en-US" sz="1400" dirty="0">
                <a:solidFill>
                  <a:srgbClr val="DCEDE4"/>
                </a:solidFill>
                <a:latin typeface="Calibri" pitchFamily="34" charset="0"/>
                <a:ea typeface="Calibri" pitchFamily="34" charset="-122"/>
                <a:cs typeface="Calibri" pitchFamily="34" charset="-120"/>
              </a:rPr>
              <a:t>Kāda ir sadarbības kārtība ar Konkurences padomi?</a:t>
            </a:r>
            <a:endParaRPr lang="en-US" sz="1400" dirty="0"/>
          </a:p>
        </p:txBody>
      </p:sp>
      <p:sp>
        <p:nvSpPr>
          <p:cNvPr id="7" name="Shape 5"/>
          <p:cNvSpPr/>
          <p:nvPr/>
        </p:nvSpPr>
        <p:spPr>
          <a:xfrm>
            <a:off x="731520" y="5349240"/>
            <a:ext cx="10698480" cy="0"/>
          </a:xfrm>
          <a:prstGeom prst="line">
            <a:avLst/>
          </a:prstGeom>
          <a:noFill/>
          <a:ln w="12700">
            <a:solidFill>
              <a:srgbClr val="2E5F51"/>
            </a:solidFill>
            <a:prstDash val="solid"/>
          </a:ln>
        </p:spPr>
      </p:sp>
      <p:sp>
        <p:nvSpPr>
          <p:cNvPr id="8" name="Text 6"/>
          <p:cNvSpPr/>
          <p:nvPr/>
        </p:nvSpPr>
        <p:spPr>
          <a:xfrm>
            <a:off x="731520" y="5532120"/>
            <a:ext cx="10607040" cy="365760"/>
          </a:xfrm>
          <a:prstGeom prst="rect">
            <a:avLst/>
          </a:prstGeom>
          <a:noFill/>
          <a:ln/>
        </p:spPr>
        <p:txBody>
          <a:bodyPr wrap="square" rtlCol="0" anchor="ctr"/>
          <a:lstStyle/>
          <a:p>
            <a:pPr indent="0" marL="0">
              <a:buNone/>
            </a:pPr>
            <a:r>
              <a:rPr lang="en-US" sz="1300" dirty="0">
                <a:solidFill>
                  <a:srgbClr val="8FBFA6"/>
                </a:solidFill>
                <a:latin typeface="Calibri" pitchFamily="34" charset="0"/>
                <a:ea typeface="Calibri" pitchFamily="34" charset="-122"/>
                <a:cs typeface="Calibri" pitchFamily="34" charset="-120"/>
              </a:rPr>
              <a:t>Jānis Rupeiks · iepirkumurisks.lv · janis.rupeiks@inbox.lv</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Priekšlikumi publisko iepirkumu datu pieejamības uzlabošanai</dc:title>
  <dc:subject>PptxGenJS Presentation</dc:subject>
  <dc:creator>Jānis Rupeiks</dc:creator>
  <cp:lastModifiedBy>Jānis Rupeiks</cp:lastModifiedBy>
  <cp:revision>1</cp:revision>
  <dcterms:created xsi:type="dcterms:W3CDTF">2026-07-17T05:34:18Z</dcterms:created>
  <dcterms:modified xsi:type="dcterms:W3CDTF">2026-07-17T05:34:18Z</dcterms:modified>
</cp:coreProperties>
</file>